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One Little Font Bold" charset="1" panose="00000800000000000000"/>
      <p:regular r:id="rId43"/>
    </p:embeddedFont>
    <p:embeddedFont>
      <p:font typeface="Lookpeach Font TH Bold" charset="1" panose="02000503000000000000"/>
      <p:regular r:id="rId44"/>
    </p:embeddedFont>
    <p:embeddedFont>
      <p:font typeface="Poppins" charset="1" panose="00000500000000000000"/>
      <p:regular r:id="rId45"/>
    </p:embeddedFont>
    <p:embeddedFont>
      <p:font typeface="Poppins Bold" charset="1" panose="000008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0.png" Type="http://schemas.openxmlformats.org/officeDocument/2006/relationships/image"/><Relationship Id="rId4" Target="../media/image51.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54.png" Type="http://schemas.openxmlformats.org/officeDocument/2006/relationships/image"/><Relationship Id="rId8" Target="../media/image5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5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5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6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1.png" Type="http://schemas.openxmlformats.org/officeDocument/2006/relationships/image"/><Relationship Id="rId6" Target="../media/image7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8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9562813"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5859227" y="7716182"/>
            <a:ext cx="6569546" cy="718445"/>
            <a:chOff x="0" y="0"/>
            <a:chExt cx="1730251" cy="189220"/>
          </a:xfrm>
        </p:grpSpPr>
        <p:sp>
          <p:nvSpPr>
            <p:cNvPr name="Freeform 25" id="25"/>
            <p:cNvSpPr/>
            <p:nvPr/>
          </p:nvSpPr>
          <p:spPr>
            <a:xfrm flipH="false" flipV="false" rot="0">
              <a:off x="0" y="0"/>
              <a:ext cx="1730251" cy="189220"/>
            </a:xfrm>
            <a:custGeom>
              <a:avLst/>
              <a:gdLst/>
              <a:ahLst/>
              <a:cxnLst/>
              <a:rect r="r" b="b" t="t" l="l"/>
              <a:pathLst>
                <a:path h="189220" w="1730251">
                  <a:moveTo>
                    <a:pt x="60101" y="0"/>
                  </a:moveTo>
                  <a:lnTo>
                    <a:pt x="1670150" y="0"/>
                  </a:lnTo>
                  <a:cubicBezTo>
                    <a:pt x="1686090" y="0"/>
                    <a:pt x="1701377" y="6332"/>
                    <a:pt x="1712648" y="17603"/>
                  </a:cubicBezTo>
                  <a:cubicBezTo>
                    <a:pt x="1723919" y="28874"/>
                    <a:pt x="1730251" y="44161"/>
                    <a:pt x="1730251" y="60101"/>
                  </a:cubicBezTo>
                  <a:lnTo>
                    <a:pt x="1730251" y="129119"/>
                  </a:lnTo>
                  <a:cubicBezTo>
                    <a:pt x="1730251" y="145059"/>
                    <a:pt x="1723919" y="160346"/>
                    <a:pt x="1712648" y="171617"/>
                  </a:cubicBezTo>
                  <a:cubicBezTo>
                    <a:pt x="1701377" y="182888"/>
                    <a:pt x="1686090" y="189220"/>
                    <a:pt x="1670150" y="189220"/>
                  </a:cubicBezTo>
                  <a:lnTo>
                    <a:pt x="60101" y="189220"/>
                  </a:lnTo>
                  <a:cubicBezTo>
                    <a:pt x="44161" y="189220"/>
                    <a:pt x="28874" y="182888"/>
                    <a:pt x="17603" y="171617"/>
                  </a:cubicBezTo>
                  <a:cubicBezTo>
                    <a:pt x="6332" y="160346"/>
                    <a:pt x="0" y="145059"/>
                    <a:pt x="0" y="129119"/>
                  </a:cubicBezTo>
                  <a:lnTo>
                    <a:pt x="0" y="60101"/>
                  </a:lnTo>
                  <a:cubicBezTo>
                    <a:pt x="0" y="44161"/>
                    <a:pt x="6332" y="28874"/>
                    <a:pt x="17603" y="17603"/>
                  </a:cubicBezTo>
                  <a:cubicBezTo>
                    <a:pt x="28874" y="6332"/>
                    <a:pt x="44161" y="0"/>
                    <a:pt x="60101" y="0"/>
                  </a:cubicBezTo>
                  <a:close/>
                </a:path>
              </a:pathLst>
            </a:custGeom>
            <a:solidFill>
              <a:srgbClr val="F9C7C2"/>
            </a:solidFill>
            <a:ln w="38100" cap="rnd">
              <a:solidFill>
                <a:srgbClr val="000000"/>
              </a:solidFill>
              <a:prstDash val="solid"/>
              <a:round/>
            </a:ln>
          </p:spPr>
        </p:sp>
        <p:sp>
          <p:nvSpPr>
            <p:cNvPr name="TextBox 26" id="26"/>
            <p:cNvSpPr txBox="true"/>
            <p:nvPr/>
          </p:nvSpPr>
          <p:spPr>
            <a:xfrm>
              <a:off x="0" y="-66675"/>
              <a:ext cx="1730251" cy="255895"/>
            </a:xfrm>
            <a:prstGeom prst="rect">
              <a:avLst/>
            </a:prstGeom>
          </p:spPr>
          <p:txBody>
            <a:bodyPr anchor="ctr" rtlCol="false" tIns="50800" lIns="50800" bIns="50800" rIns="50800"/>
            <a:lstStyle/>
            <a:p>
              <a:pPr algn="ctr">
                <a:lnSpc>
                  <a:spcPts val="3359"/>
                </a:lnSpc>
              </a:pPr>
            </a:p>
          </p:txBody>
        </p:sp>
      </p:grpSp>
      <p:sp>
        <p:nvSpPr>
          <p:cNvPr name="Freeform 27" id="27"/>
          <p:cNvSpPr/>
          <p:nvPr/>
        </p:nvSpPr>
        <p:spPr>
          <a:xfrm flipH="false" flipV="false" rot="7635509">
            <a:off x="-791044" y="2769831"/>
            <a:ext cx="4122211" cy="2050800"/>
          </a:xfrm>
          <a:custGeom>
            <a:avLst/>
            <a:gdLst/>
            <a:ahLst/>
            <a:cxnLst/>
            <a:rect r="r" b="b" t="t" l="l"/>
            <a:pathLst>
              <a:path h="2050800" w="4122211">
                <a:moveTo>
                  <a:pt x="0" y="0"/>
                </a:moveTo>
                <a:lnTo>
                  <a:pt x="4122211" y="0"/>
                </a:lnTo>
                <a:lnTo>
                  <a:pt x="4122211" y="2050799"/>
                </a:lnTo>
                <a:lnTo>
                  <a:pt x="0" y="20507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true" rot="2912823">
            <a:off x="14126129" y="7980034"/>
            <a:ext cx="5138758" cy="2556532"/>
          </a:xfrm>
          <a:custGeom>
            <a:avLst/>
            <a:gdLst/>
            <a:ahLst/>
            <a:cxnLst/>
            <a:rect r="r" b="b" t="t" l="l"/>
            <a:pathLst>
              <a:path h="2556532" w="5138758">
                <a:moveTo>
                  <a:pt x="0" y="2556532"/>
                </a:moveTo>
                <a:lnTo>
                  <a:pt x="5138759" y="2556532"/>
                </a:lnTo>
                <a:lnTo>
                  <a:pt x="5138759" y="0"/>
                </a:lnTo>
                <a:lnTo>
                  <a:pt x="0" y="0"/>
                </a:lnTo>
                <a:lnTo>
                  <a:pt x="0" y="25565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3411516" y="2444668"/>
            <a:ext cx="11464968" cy="5015865"/>
          </a:xfrm>
          <a:prstGeom prst="rect">
            <a:avLst/>
          </a:prstGeom>
        </p:spPr>
        <p:txBody>
          <a:bodyPr anchor="t" rtlCol="false" tIns="0" lIns="0" bIns="0" rIns="0">
            <a:spAutoFit/>
          </a:bodyPr>
          <a:lstStyle/>
          <a:p>
            <a:pPr algn="ctr" marL="0" indent="0" lvl="0">
              <a:lnSpc>
                <a:spcPts val="20160"/>
              </a:lnSpc>
              <a:spcBef>
                <a:spcPct val="0"/>
              </a:spcBef>
            </a:pPr>
            <a:r>
              <a:rPr lang="en-US" b="true" sz="14400">
                <a:solidFill>
                  <a:srgbClr val="000000"/>
                </a:solidFill>
                <a:latin typeface="One Little Font Bold"/>
                <a:ea typeface="One Little Font Bold"/>
                <a:cs typeface="One Little Font Bold"/>
                <a:sym typeface="One Little Font Bold"/>
              </a:rPr>
              <a:t>DATABASE COFFESHOP</a:t>
            </a:r>
          </a:p>
        </p:txBody>
      </p:sp>
      <p:sp>
        <p:nvSpPr>
          <p:cNvPr name="Freeform 30" id="30"/>
          <p:cNvSpPr/>
          <p:nvPr/>
        </p:nvSpPr>
        <p:spPr>
          <a:xfrm flipH="false" flipV="false" rot="753329">
            <a:off x="717480" y="5232918"/>
            <a:ext cx="2530817" cy="6616516"/>
          </a:xfrm>
          <a:custGeom>
            <a:avLst/>
            <a:gdLst/>
            <a:ahLst/>
            <a:cxnLst/>
            <a:rect r="r" b="b" t="t" l="l"/>
            <a:pathLst>
              <a:path h="6616516" w="2530817">
                <a:moveTo>
                  <a:pt x="0" y="0"/>
                </a:moveTo>
                <a:lnTo>
                  <a:pt x="2530817" y="0"/>
                </a:lnTo>
                <a:lnTo>
                  <a:pt x="2530817" y="6616516"/>
                </a:lnTo>
                <a:lnTo>
                  <a:pt x="0" y="6616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1" id="31"/>
          <p:cNvSpPr/>
          <p:nvPr/>
        </p:nvSpPr>
        <p:spPr>
          <a:xfrm flipH="true" flipV="true" rot="753329">
            <a:off x="15039703" y="-1562434"/>
            <a:ext cx="2530817" cy="6616516"/>
          </a:xfrm>
          <a:custGeom>
            <a:avLst/>
            <a:gdLst/>
            <a:ahLst/>
            <a:cxnLst/>
            <a:rect r="r" b="b" t="t" l="l"/>
            <a:pathLst>
              <a:path h="6616516" w="2530817">
                <a:moveTo>
                  <a:pt x="2530817" y="6616516"/>
                </a:moveTo>
                <a:lnTo>
                  <a:pt x="0" y="6616516"/>
                </a:lnTo>
                <a:lnTo>
                  <a:pt x="0" y="0"/>
                </a:lnTo>
                <a:lnTo>
                  <a:pt x="2530817" y="0"/>
                </a:lnTo>
                <a:lnTo>
                  <a:pt x="2530817" y="661651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2" id="32"/>
          <p:cNvSpPr txBox="true"/>
          <p:nvPr/>
        </p:nvSpPr>
        <p:spPr>
          <a:xfrm rot="0">
            <a:off x="6387854" y="7730283"/>
            <a:ext cx="5512291" cy="537845"/>
          </a:xfrm>
          <a:prstGeom prst="rect">
            <a:avLst/>
          </a:prstGeom>
        </p:spPr>
        <p:txBody>
          <a:bodyPr anchor="t" rtlCol="false" tIns="0" lIns="0" bIns="0" rIns="0">
            <a:spAutoFit/>
          </a:bodyPr>
          <a:lstStyle/>
          <a:p>
            <a:pPr algn="ctr">
              <a:lnSpc>
                <a:spcPts val="4480"/>
              </a:lnSpc>
            </a:pPr>
            <a:r>
              <a:rPr lang="en-US" sz="3200" b="true">
                <a:solidFill>
                  <a:srgbClr val="000000"/>
                </a:solidFill>
                <a:latin typeface="Lookpeach Font TH Bold"/>
                <a:ea typeface="Lookpeach Font TH Bold"/>
                <a:cs typeface="Lookpeach Font TH Bold"/>
                <a:sym typeface="Lookpeach Font TH Bold"/>
              </a:rPr>
              <a:t>Kelompok 11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grpSp>
        <p:nvGrpSpPr>
          <p:cNvPr name="Group 24" id="24"/>
          <p:cNvGrpSpPr>
            <a:grpSpLocks noChangeAspect="true"/>
          </p:cNvGrpSpPr>
          <p:nvPr/>
        </p:nvGrpSpPr>
        <p:grpSpPr>
          <a:xfrm rot="0">
            <a:off x="3431459" y="3703745"/>
            <a:ext cx="2931062" cy="2919612"/>
            <a:chOff x="0" y="0"/>
            <a:chExt cx="6502400" cy="6477000"/>
          </a:xfrm>
        </p:grpSpPr>
        <p:sp>
          <p:nvSpPr>
            <p:cNvPr name="Freeform 25" id="25"/>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3"/>
              <a:stretch>
                <a:fillRect l="223" t="-16665" r="223" b="-16665"/>
              </a:stretch>
            </a:blipFill>
          </p:spPr>
        </p:sp>
        <p:sp>
          <p:nvSpPr>
            <p:cNvPr name="Freeform 26" id="26"/>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CD8883"/>
            </a:solidFill>
          </p:spPr>
        </p:sp>
      </p:grpSp>
      <p:grpSp>
        <p:nvGrpSpPr>
          <p:cNvPr name="Group 27" id="27"/>
          <p:cNvGrpSpPr>
            <a:grpSpLocks noChangeAspect="true"/>
          </p:cNvGrpSpPr>
          <p:nvPr/>
        </p:nvGrpSpPr>
        <p:grpSpPr>
          <a:xfrm rot="0">
            <a:off x="11696341" y="3484857"/>
            <a:ext cx="2931062" cy="2919612"/>
            <a:chOff x="0" y="0"/>
            <a:chExt cx="6502400" cy="6477000"/>
          </a:xfrm>
        </p:grpSpPr>
        <p:sp>
          <p:nvSpPr>
            <p:cNvPr name="Freeform 28" id="2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223" t="-9072" r="223" b="-35744"/>
              </a:stretch>
            </a:blipFill>
          </p:spPr>
        </p:sp>
        <p:sp>
          <p:nvSpPr>
            <p:cNvPr name="Freeform 29" id="2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CD8883"/>
            </a:solidFill>
          </p:spPr>
        </p:sp>
      </p:grpSp>
      <p:grpSp>
        <p:nvGrpSpPr>
          <p:cNvPr name="Group 30" id="30"/>
          <p:cNvGrpSpPr>
            <a:grpSpLocks noChangeAspect="true"/>
          </p:cNvGrpSpPr>
          <p:nvPr/>
        </p:nvGrpSpPr>
        <p:grpSpPr>
          <a:xfrm rot="0">
            <a:off x="7669528" y="4944664"/>
            <a:ext cx="2931062" cy="2919612"/>
            <a:chOff x="0" y="0"/>
            <a:chExt cx="6502400" cy="6477000"/>
          </a:xfrm>
        </p:grpSpPr>
        <p:sp>
          <p:nvSpPr>
            <p:cNvPr name="Freeform 31" id="31"/>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5"/>
              <a:stretch>
                <a:fillRect l="223" t="-13068" r="223" b="-37203"/>
              </a:stretch>
            </a:blipFill>
          </p:spPr>
        </p:sp>
        <p:sp>
          <p:nvSpPr>
            <p:cNvPr name="Freeform 32" id="32"/>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CD8883"/>
            </a:solidFill>
          </p:spPr>
        </p:sp>
      </p:grpSp>
      <p:sp>
        <p:nvSpPr>
          <p:cNvPr name="Freeform 33" id="33"/>
          <p:cNvSpPr/>
          <p:nvPr/>
        </p:nvSpPr>
        <p:spPr>
          <a:xfrm flipH="false" flipV="false" rot="-1420046">
            <a:off x="15500061" y="1735225"/>
            <a:ext cx="3156965" cy="3493183"/>
          </a:xfrm>
          <a:custGeom>
            <a:avLst/>
            <a:gdLst/>
            <a:ahLst/>
            <a:cxnLst/>
            <a:rect r="r" b="b" t="t" l="l"/>
            <a:pathLst>
              <a:path h="3493183" w="3156965">
                <a:moveTo>
                  <a:pt x="0" y="0"/>
                </a:moveTo>
                <a:lnTo>
                  <a:pt x="3156965" y="0"/>
                </a:lnTo>
                <a:lnTo>
                  <a:pt x="3156965" y="3493183"/>
                </a:lnTo>
                <a:lnTo>
                  <a:pt x="0" y="34931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true" flipV="false" rot="1422000">
            <a:off x="-386496" y="7691547"/>
            <a:ext cx="3156965" cy="3493183"/>
          </a:xfrm>
          <a:custGeom>
            <a:avLst/>
            <a:gdLst/>
            <a:ahLst/>
            <a:cxnLst/>
            <a:rect r="r" b="b" t="t" l="l"/>
            <a:pathLst>
              <a:path h="3493183" w="3156965">
                <a:moveTo>
                  <a:pt x="3156965" y="0"/>
                </a:moveTo>
                <a:lnTo>
                  <a:pt x="0" y="0"/>
                </a:lnTo>
                <a:lnTo>
                  <a:pt x="0" y="3493183"/>
                </a:lnTo>
                <a:lnTo>
                  <a:pt x="3156965" y="3493183"/>
                </a:lnTo>
                <a:lnTo>
                  <a:pt x="315696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2170180" y="1883552"/>
            <a:ext cx="13947639"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members of the group</a:t>
            </a:r>
          </a:p>
        </p:txBody>
      </p:sp>
      <p:sp>
        <p:nvSpPr>
          <p:cNvPr name="TextBox 36" id="36"/>
          <p:cNvSpPr txBox="true"/>
          <p:nvPr/>
        </p:nvSpPr>
        <p:spPr>
          <a:xfrm rot="0">
            <a:off x="2765170" y="6732961"/>
            <a:ext cx="4263639" cy="361950"/>
          </a:xfrm>
          <a:prstGeom prst="rect">
            <a:avLst/>
          </a:prstGeom>
        </p:spPr>
        <p:txBody>
          <a:bodyPr anchor="t" rtlCol="false" tIns="0" lIns="0" bIns="0" rIns="0">
            <a:spAutoFit/>
          </a:bodyPr>
          <a:lstStyle/>
          <a:p>
            <a:pPr algn="ctr">
              <a:lnSpc>
                <a:spcPts val="2879"/>
              </a:lnSpc>
            </a:pPr>
            <a:r>
              <a:rPr lang="en-US" b="true" sz="2400">
                <a:solidFill>
                  <a:srgbClr val="000000"/>
                </a:solidFill>
                <a:latin typeface="Lookpeach Font TH Bold"/>
                <a:ea typeface="Lookpeach Font TH Bold"/>
                <a:cs typeface="Lookpeach Font TH Bold"/>
                <a:sym typeface="Lookpeach Font TH Bold"/>
              </a:rPr>
              <a:t>Namira  Assalwa</a:t>
            </a:r>
          </a:p>
        </p:txBody>
      </p:sp>
      <p:sp>
        <p:nvSpPr>
          <p:cNvPr name="TextBox 37" id="37"/>
          <p:cNvSpPr txBox="true"/>
          <p:nvPr/>
        </p:nvSpPr>
        <p:spPr>
          <a:xfrm rot="0">
            <a:off x="11241307" y="6623357"/>
            <a:ext cx="4263639" cy="361950"/>
          </a:xfrm>
          <a:prstGeom prst="rect">
            <a:avLst/>
          </a:prstGeom>
        </p:spPr>
        <p:txBody>
          <a:bodyPr anchor="t" rtlCol="false" tIns="0" lIns="0" bIns="0" rIns="0">
            <a:spAutoFit/>
          </a:bodyPr>
          <a:lstStyle/>
          <a:p>
            <a:pPr algn="ctr">
              <a:lnSpc>
                <a:spcPts val="2879"/>
              </a:lnSpc>
            </a:pPr>
            <a:r>
              <a:rPr lang="en-US" b="true" sz="2400">
                <a:solidFill>
                  <a:srgbClr val="000000"/>
                </a:solidFill>
                <a:latin typeface="Lookpeach Font TH Bold"/>
                <a:ea typeface="Lookpeach Font TH Bold"/>
                <a:cs typeface="Lookpeach Font TH Bold"/>
                <a:sym typeface="Lookpeach Font TH Bold"/>
              </a:rPr>
              <a:t>Muhamad Rifqi Alfareza</a:t>
            </a:r>
          </a:p>
        </p:txBody>
      </p:sp>
      <p:sp>
        <p:nvSpPr>
          <p:cNvPr name="TextBox 38" id="38"/>
          <p:cNvSpPr txBox="true"/>
          <p:nvPr/>
        </p:nvSpPr>
        <p:spPr>
          <a:xfrm rot="0">
            <a:off x="7032227" y="8318920"/>
            <a:ext cx="4263639" cy="361950"/>
          </a:xfrm>
          <a:prstGeom prst="rect">
            <a:avLst/>
          </a:prstGeom>
        </p:spPr>
        <p:txBody>
          <a:bodyPr anchor="t" rtlCol="false" tIns="0" lIns="0" bIns="0" rIns="0">
            <a:spAutoFit/>
          </a:bodyPr>
          <a:lstStyle/>
          <a:p>
            <a:pPr algn="ctr">
              <a:lnSpc>
                <a:spcPts val="2879"/>
              </a:lnSpc>
            </a:pPr>
            <a:r>
              <a:rPr lang="en-US" b="true" sz="2400">
                <a:solidFill>
                  <a:srgbClr val="000000"/>
                </a:solidFill>
                <a:latin typeface="Lookpeach Font TH Bold"/>
                <a:ea typeface="Lookpeach Font TH Bold"/>
                <a:cs typeface="Lookpeach Font TH Bold"/>
                <a:sym typeface="Lookpeach Font TH Bold"/>
              </a:rPr>
              <a:t>Zulfarida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grpSp>
        <p:nvGrpSpPr>
          <p:cNvPr name="Group 24" id="24"/>
          <p:cNvGrpSpPr>
            <a:grpSpLocks noChangeAspect="true"/>
          </p:cNvGrpSpPr>
          <p:nvPr/>
        </p:nvGrpSpPr>
        <p:grpSpPr>
          <a:xfrm rot="0">
            <a:off x="1787443" y="2048628"/>
            <a:ext cx="4768798" cy="6812569"/>
            <a:chOff x="0" y="0"/>
            <a:chExt cx="4445000" cy="6350000"/>
          </a:xfrm>
        </p:grpSpPr>
        <p:sp>
          <p:nvSpPr>
            <p:cNvPr name="Freeform 25" id="25"/>
            <p:cNvSpPr/>
            <p:nvPr/>
          </p:nvSpPr>
          <p:spPr>
            <a:xfrm flipH="false" flipV="false" rot="0">
              <a:off x="0" y="0"/>
              <a:ext cx="4445000" cy="6350000"/>
            </a:xfrm>
            <a:custGeom>
              <a:avLst/>
              <a:gdLst/>
              <a:ahLst/>
              <a:cxnLst/>
              <a:rect r="r" b="b" t="t" l="l"/>
              <a:pathLst>
                <a:path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a:blip r:embed="rId3"/>
              <a:stretch>
                <a:fillRect l="-57209" t="0" r="-57209" b="0"/>
              </a:stretch>
            </a:blipFill>
          </p:spPr>
        </p:sp>
      </p:grpSp>
      <p:grpSp>
        <p:nvGrpSpPr>
          <p:cNvPr name="Group 26" id="26"/>
          <p:cNvGrpSpPr/>
          <p:nvPr/>
        </p:nvGrpSpPr>
        <p:grpSpPr>
          <a:xfrm rot="0">
            <a:off x="14020645" y="8164833"/>
            <a:ext cx="763717" cy="76371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8883"/>
            </a:solidFill>
          </p:spPr>
        </p:sp>
        <p:sp>
          <p:nvSpPr>
            <p:cNvPr name="TextBox 28" id="28"/>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14917862" y="8164833"/>
            <a:ext cx="763717" cy="76371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C7C2"/>
            </a:solidFill>
          </p:spPr>
        </p:sp>
        <p:sp>
          <p:nvSpPr>
            <p:cNvPr name="TextBox 31" id="31"/>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2" id="32"/>
          <p:cNvGrpSpPr/>
          <p:nvPr/>
        </p:nvGrpSpPr>
        <p:grpSpPr>
          <a:xfrm rot="0">
            <a:off x="15815080" y="8164833"/>
            <a:ext cx="763717" cy="76371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D3C4"/>
            </a:solidFill>
          </p:spPr>
        </p:sp>
        <p:sp>
          <p:nvSpPr>
            <p:cNvPr name="TextBox 34" id="34"/>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sp>
        <p:nvSpPr>
          <p:cNvPr name="Freeform 35" id="35"/>
          <p:cNvSpPr/>
          <p:nvPr/>
        </p:nvSpPr>
        <p:spPr>
          <a:xfrm flipH="true" flipV="false" rot="0">
            <a:off x="-827537" y="7002349"/>
            <a:ext cx="3462106" cy="3717697"/>
          </a:xfrm>
          <a:custGeom>
            <a:avLst/>
            <a:gdLst/>
            <a:ahLst/>
            <a:cxnLst/>
            <a:rect r="r" b="b" t="t" l="l"/>
            <a:pathLst>
              <a:path h="3717697" w="3462106">
                <a:moveTo>
                  <a:pt x="3462105" y="0"/>
                </a:moveTo>
                <a:lnTo>
                  <a:pt x="0" y="0"/>
                </a:lnTo>
                <a:lnTo>
                  <a:pt x="0" y="3717697"/>
                </a:lnTo>
                <a:lnTo>
                  <a:pt x="3462105" y="3717697"/>
                </a:lnTo>
                <a:lnTo>
                  <a:pt x="346210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6" id="36"/>
          <p:cNvSpPr txBox="true"/>
          <p:nvPr/>
        </p:nvSpPr>
        <p:spPr>
          <a:xfrm rot="0">
            <a:off x="6883293" y="2177303"/>
            <a:ext cx="10989466" cy="1335852"/>
          </a:xfrm>
          <a:prstGeom prst="rect">
            <a:avLst/>
          </a:prstGeom>
        </p:spPr>
        <p:txBody>
          <a:bodyPr anchor="t" rtlCol="false" tIns="0" lIns="0" bIns="0" rIns="0">
            <a:spAutoFit/>
          </a:bodyPr>
          <a:lstStyle/>
          <a:p>
            <a:pPr algn="l" marL="0" indent="0" lvl="0">
              <a:lnSpc>
                <a:spcPts val="10039"/>
              </a:lnSpc>
            </a:pPr>
            <a:r>
              <a:rPr lang="en-US" b="true" sz="10039">
                <a:solidFill>
                  <a:srgbClr val="000000"/>
                </a:solidFill>
                <a:latin typeface="One Little Font Bold"/>
                <a:ea typeface="One Little Font Bold"/>
                <a:cs typeface="One Little Font Bold"/>
                <a:sym typeface="One Little Font Bold"/>
              </a:rPr>
              <a:t>Background </a:t>
            </a:r>
          </a:p>
        </p:txBody>
      </p:sp>
      <p:sp>
        <p:nvSpPr>
          <p:cNvPr name="Freeform 37" id="37"/>
          <p:cNvSpPr/>
          <p:nvPr/>
        </p:nvSpPr>
        <p:spPr>
          <a:xfrm flipH="false" flipV="false" rot="0">
            <a:off x="15963541" y="411422"/>
            <a:ext cx="2934148" cy="3150763"/>
          </a:xfrm>
          <a:custGeom>
            <a:avLst/>
            <a:gdLst/>
            <a:ahLst/>
            <a:cxnLst/>
            <a:rect r="r" b="b" t="t" l="l"/>
            <a:pathLst>
              <a:path h="3150763" w="2934148">
                <a:moveTo>
                  <a:pt x="0" y="0"/>
                </a:moveTo>
                <a:lnTo>
                  <a:pt x="2934148" y="0"/>
                </a:lnTo>
                <a:lnTo>
                  <a:pt x="2934148" y="3150763"/>
                </a:lnTo>
                <a:lnTo>
                  <a:pt x="0" y="31507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7075691" y="2664255"/>
            <a:ext cx="9241302" cy="5217209"/>
          </a:xfrm>
          <a:prstGeom prst="rect">
            <a:avLst/>
          </a:prstGeom>
        </p:spPr>
        <p:txBody>
          <a:bodyPr anchor="t" rtlCol="false" tIns="0" lIns="0" bIns="0" rIns="0">
            <a:spAutoFit/>
          </a:bodyPr>
          <a:lstStyle/>
          <a:p>
            <a:pPr algn="just">
              <a:lnSpc>
                <a:spcPts val="4103"/>
              </a:lnSpc>
            </a:pPr>
          </a:p>
          <a:p>
            <a:pPr algn="just">
              <a:lnSpc>
                <a:spcPts val="4103"/>
              </a:lnSpc>
            </a:pPr>
          </a:p>
          <a:p>
            <a:pPr algn="just">
              <a:lnSpc>
                <a:spcPts val="4103"/>
              </a:lnSpc>
              <a:spcBef>
                <a:spcPct val="0"/>
              </a:spcBef>
            </a:pPr>
            <a:r>
              <a:rPr lang="en-US" sz="2930">
                <a:solidFill>
                  <a:srgbClr val="000000"/>
                </a:solidFill>
                <a:latin typeface="Poppins"/>
                <a:ea typeface="Poppins"/>
                <a:cs typeface="Poppins"/>
                <a:sym typeface="Poppins"/>
              </a:rPr>
              <a:t>An integrated data management system is crucial for cafe business success. Effective data management enhances order accuracy, optimizes inventory, monitors operational performance and generates accurate financial reports, ultimately impacting service quality, customer satisfaction and sustainable business growth.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16087119" y="4314984"/>
            <a:ext cx="2039150" cy="6631383"/>
          </a:xfrm>
          <a:custGeom>
            <a:avLst/>
            <a:gdLst/>
            <a:ahLst/>
            <a:cxnLst/>
            <a:rect r="r" b="b" t="t" l="l"/>
            <a:pathLst>
              <a:path h="6631383" w="2039150">
                <a:moveTo>
                  <a:pt x="0" y="0"/>
                </a:moveTo>
                <a:lnTo>
                  <a:pt x="2039150" y="0"/>
                </a:lnTo>
                <a:lnTo>
                  <a:pt x="2039150" y="6631383"/>
                </a:lnTo>
                <a:lnTo>
                  <a:pt x="0" y="66313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0">
            <a:off x="161731" y="4467024"/>
            <a:ext cx="2039150" cy="6631383"/>
          </a:xfrm>
          <a:custGeom>
            <a:avLst/>
            <a:gdLst/>
            <a:ahLst/>
            <a:cxnLst/>
            <a:rect r="r" b="b" t="t" l="l"/>
            <a:pathLst>
              <a:path h="6631383" w="2039150">
                <a:moveTo>
                  <a:pt x="2039150" y="0"/>
                </a:moveTo>
                <a:lnTo>
                  <a:pt x="0" y="0"/>
                </a:lnTo>
                <a:lnTo>
                  <a:pt x="0" y="6631383"/>
                </a:lnTo>
                <a:lnTo>
                  <a:pt x="2039150" y="6631383"/>
                </a:lnTo>
                <a:lnTo>
                  <a:pt x="203915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2324459" y="2014013"/>
            <a:ext cx="13639083"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Database Definition</a:t>
            </a:r>
          </a:p>
        </p:txBody>
      </p:sp>
      <p:sp>
        <p:nvSpPr>
          <p:cNvPr name="TextBox 27" id="27"/>
          <p:cNvSpPr txBox="true"/>
          <p:nvPr/>
        </p:nvSpPr>
        <p:spPr>
          <a:xfrm rot="0">
            <a:off x="2523576" y="2683581"/>
            <a:ext cx="13240848" cy="5447413"/>
          </a:xfrm>
          <a:prstGeom prst="rect">
            <a:avLst/>
          </a:prstGeom>
        </p:spPr>
        <p:txBody>
          <a:bodyPr anchor="t" rtlCol="false" tIns="0" lIns="0" bIns="0" rIns="0">
            <a:spAutoFit/>
          </a:bodyPr>
          <a:lstStyle/>
          <a:p>
            <a:pPr algn="just">
              <a:lnSpc>
                <a:spcPts val="4846"/>
              </a:lnSpc>
              <a:spcBef>
                <a:spcPct val="0"/>
              </a:spcBef>
            </a:pPr>
          </a:p>
          <a:p>
            <a:pPr algn="just">
              <a:lnSpc>
                <a:spcPts val="4846"/>
              </a:lnSpc>
              <a:spcBef>
                <a:spcPct val="0"/>
              </a:spcBef>
            </a:pPr>
          </a:p>
          <a:p>
            <a:pPr algn="just">
              <a:lnSpc>
                <a:spcPts val="4846"/>
              </a:lnSpc>
              <a:spcBef>
                <a:spcPct val="0"/>
              </a:spcBef>
            </a:pPr>
            <a:r>
              <a:rPr lang="en-US" sz="3461">
                <a:solidFill>
                  <a:srgbClr val="000000"/>
                </a:solidFill>
                <a:latin typeface="Poppins"/>
                <a:ea typeface="Poppins"/>
                <a:cs typeface="Poppins"/>
                <a:sym typeface="Poppins"/>
              </a:rPr>
              <a:t>A cafe database is a structured collection of data managing operational information, including menus, inventory, customer details, orders, employee schedules, financial transactions and suppliers.</a:t>
            </a:r>
          </a:p>
          <a:p>
            <a:pPr algn="just">
              <a:lnSpc>
                <a:spcPts val="4846"/>
              </a:lnSpc>
              <a:spcBef>
                <a:spcPct val="0"/>
              </a:spcBef>
            </a:pPr>
          </a:p>
          <a:p>
            <a:pPr algn="just">
              <a:lnSpc>
                <a:spcPts val="4846"/>
              </a:lnSpc>
              <a:spcBef>
                <a:spcPct val="0"/>
              </a:spcBef>
            </a:pPr>
            <a:r>
              <a:rPr lang="en-US" sz="3461">
                <a:solidFill>
                  <a:srgbClr val="000000"/>
                </a:solidFill>
                <a:latin typeface="Poppins"/>
                <a:ea typeface="Poppins"/>
                <a:cs typeface="Poppins"/>
                <a:sym typeface="Poppins"/>
              </a:rPr>
              <a:t>Its purpose is to enhance operational efficiency, accelerate decision-making and simplify data management.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183866" y="2348243"/>
            <a:ext cx="2847168" cy="8967457"/>
          </a:xfrm>
          <a:custGeom>
            <a:avLst/>
            <a:gdLst/>
            <a:ahLst/>
            <a:cxnLst/>
            <a:rect r="r" b="b" t="t" l="l"/>
            <a:pathLst>
              <a:path h="8967457" w="2847168">
                <a:moveTo>
                  <a:pt x="0" y="0"/>
                </a:moveTo>
                <a:lnTo>
                  <a:pt x="2847167" y="0"/>
                </a:lnTo>
                <a:lnTo>
                  <a:pt x="2847167" y="8967457"/>
                </a:lnTo>
                <a:lnTo>
                  <a:pt x="0" y="89674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836954">
            <a:off x="15364044" y="305354"/>
            <a:ext cx="2925014" cy="3201110"/>
          </a:xfrm>
          <a:custGeom>
            <a:avLst/>
            <a:gdLst/>
            <a:ahLst/>
            <a:cxnLst/>
            <a:rect r="r" b="b" t="t" l="l"/>
            <a:pathLst>
              <a:path h="3201110" w="2925014">
                <a:moveTo>
                  <a:pt x="2925014" y="0"/>
                </a:moveTo>
                <a:lnTo>
                  <a:pt x="0" y="0"/>
                </a:lnTo>
                <a:lnTo>
                  <a:pt x="0" y="3201110"/>
                </a:lnTo>
                <a:lnTo>
                  <a:pt x="2925014" y="3201110"/>
                </a:lnTo>
                <a:lnTo>
                  <a:pt x="292501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3300467">
            <a:off x="15374991" y="1952525"/>
            <a:ext cx="2925014" cy="3201110"/>
          </a:xfrm>
          <a:custGeom>
            <a:avLst/>
            <a:gdLst/>
            <a:ahLst/>
            <a:cxnLst/>
            <a:rect r="r" b="b" t="t" l="l"/>
            <a:pathLst>
              <a:path h="3201110" w="2925014">
                <a:moveTo>
                  <a:pt x="2925014" y="0"/>
                </a:moveTo>
                <a:lnTo>
                  <a:pt x="0" y="0"/>
                </a:lnTo>
                <a:lnTo>
                  <a:pt x="0" y="3201110"/>
                </a:lnTo>
                <a:lnTo>
                  <a:pt x="2925014" y="3201110"/>
                </a:lnTo>
                <a:lnTo>
                  <a:pt x="292501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7" id="27"/>
          <p:cNvGrpSpPr/>
          <p:nvPr/>
        </p:nvGrpSpPr>
        <p:grpSpPr>
          <a:xfrm rot="0">
            <a:off x="2861022" y="1996991"/>
            <a:ext cx="11327167" cy="2066361"/>
            <a:chOff x="0" y="0"/>
            <a:chExt cx="2983287" cy="544227"/>
          </a:xfrm>
        </p:grpSpPr>
        <p:sp>
          <p:nvSpPr>
            <p:cNvPr name="Freeform 28" id="28"/>
            <p:cNvSpPr/>
            <p:nvPr/>
          </p:nvSpPr>
          <p:spPr>
            <a:xfrm flipH="false" flipV="false" rot="0">
              <a:off x="0" y="0"/>
              <a:ext cx="2983287" cy="544227"/>
            </a:xfrm>
            <a:custGeom>
              <a:avLst/>
              <a:gdLst/>
              <a:ahLst/>
              <a:cxnLst/>
              <a:rect r="r" b="b" t="t" l="l"/>
              <a:pathLst>
                <a:path h="544227" w="2983287">
                  <a:moveTo>
                    <a:pt x="34174" y="0"/>
                  </a:moveTo>
                  <a:lnTo>
                    <a:pt x="2949113" y="0"/>
                  </a:lnTo>
                  <a:cubicBezTo>
                    <a:pt x="2958176" y="0"/>
                    <a:pt x="2966869" y="3600"/>
                    <a:pt x="2973277" y="10009"/>
                  </a:cubicBezTo>
                  <a:cubicBezTo>
                    <a:pt x="2979686" y="16418"/>
                    <a:pt x="2983287" y="25111"/>
                    <a:pt x="2983287" y="34174"/>
                  </a:cubicBezTo>
                  <a:lnTo>
                    <a:pt x="2983287" y="510053"/>
                  </a:lnTo>
                  <a:cubicBezTo>
                    <a:pt x="2983287" y="519116"/>
                    <a:pt x="2979686" y="527808"/>
                    <a:pt x="2973277" y="534217"/>
                  </a:cubicBezTo>
                  <a:cubicBezTo>
                    <a:pt x="2966869" y="540626"/>
                    <a:pt x="2958176" y="544227"/>
                    <a:pt x="2949113" y="544227"/>
                  </a:cubicBezTo>
                  <a:lnTo>
                    <a:pt x="34174" y="544227"/>
                  </a:lnTo>
                  <a:cubicBezTo>
                    <a:pt x="25111" y="544227"/>
                    <a:pt x="16418" y="540626"/>
                    <a:pt x="10009" y="534217"/>
                  </a:cubicBezTo>
                  <a:cubicBezTo>
                    <a:pt x="3600" y="527808"/>
                    <a:pt x="0" y="519116"/>
                    <a:pt x="0" y="510053"/>
                  </a:cubicBezTo>
                  <a:lnTo>
                    <a:pt x="0" y="34174"/>
                  </a:lnTo>
                  <a:cubicBezTo>
                    <a:pt x="0" y="25111"/>
                    <a:pt x="3600" y="16418"/>
                    <a:pt x="10009" y="10009"/>
                  </a:cubicBezTo>
                  <a:cubicBezTo>
                    <a:pt x="16418" y="3600"/>
                    <a:pt x="25111" y="0"/>
                    <a:pt x="34174" y="0"/>
                  </a:cubicBezTo>
                  <a:close/>
                </a:path>
              </a:pathLst>
            </a:custGeom>
            <a:solidFill>
              <a:srgbClr val="FAD3C4"/>
            </a:solidFill>
            <a:ln w="38100" cap="rnd">
              <a:solidFill>
                <a:srgbClr val="000000"/>
              </a:solidFill>
              <a:prstDash val="dash"/>
              <a:round/>
            </a:ln>
          </p:spPr>
        </p:sp>
        <p:sp>
          <p:nvSpPr>
            <p:cNvPr name="TextBox 29" id="29"/>
            <p:cNvSpPr txBox="true"/>
            <p:nvPr/>
          </p:nvSpPr>
          <p:spPr>
            <a:xfrm>
              <a:off x="0" y="-66675"/>
              <a:ext cx="2983287" cy="610902"/>
            </a:xfrm>
            <a:prstGeom prst="rect">
              <a:avLst/>
            </a:prstGeom>
          </p:spPr>
          <p:txBody>
            <a:bodyPr anchor="ctr" rtlCol="false" tIns="50800" lIns="50800" bIns="50800" rIns="50800"/>
            <a:lstStyle/>
            <a:p>
              <a:pPr algn="ctr">
                <a:lnSpc>
                  <a:spcPts val="3359"/>
                </a:lnSpc>
              </a:pPr>
            </a:p>
          </p:txBody>
        </p:sp>
      </p:grpSp>
      <p:sp>
        <p:nvSpPr>
          <p:cNvPr name="TextBox 30" id="30"/>
          <p:cNvSpPr txBox="true"/>
          <p:nvPr/>
        </p:nvSpPr>
        <p:spPr>
          <a:xfrm rot="0">
            <a:off x="2448330" y="2340561"/>
            <a:ext cx="12095439" cy="1236345"/>
          </a:xfrm>
          <a:prstGeom prst="rect">
            <a:avLst/>
          </a:prstGeom>
        </p:spPr>
        <p:txBody>
          <a:bodyPr anchor="t" rtlCol="false" tIns="0" lIns="0" bIns="0" rIns="0">
            <a:spAutoFit/>
          </a:bodyPr>
          <a:lstStyle/>
          <a:p>
            <a:pPr algn="ctr">
              <a:lnSpc>
                <a:spcPts val="10080"/>
              </a:lnSpc>
            </a:pPr>
            <a:r>
              <a:rPr lang="en-US" b="true" sz="7200">
                <a:solidFill>
                  <a:srgbClr val="000000"/>
                </a:solidFill>
                <a:latin typeface="One Little Font Bold"/>
                <a:ea typeface="One Little Font Bold"/>
                <a:cs typeface="One Little Font Bold"/>
                <a:sym typeface="One Little Font Bold"/>
              </a:rPr>
              <a:t>Database Design </a:t>
            </a:r>
          </a:p>
        </p:txBody>
      </p:sp>
      <p:sp>
        <p:nvSpPr>
          <p:cNvPr name="TextBox 31" id="31"/>
          <p:cNvSpPr txBox="true"/>
          <p:nvPr/>
        </p:nvSpPr>
        <p:spPr>
          <a:xfrm rot="0">
            <a:off x="3554341" y="4030188"/>
            <a:ext cx="12829983" cy="4567774"/>
          </a:xfrm>
          <a:prstGeom prst="rect">
            <a:avLst/>
          </a:prstGeom>
        </p:spPr>
        <p:txBody>
          <a:bodyPr anchor="t" rtlCol="false" tIns="0" lIns="0" bIns="0" rIns="0">
            <a:spAutoFit/>
          </a:bodyPr>
          <a:lstStyle/>
          <a:p>
            <a:pPr algn="just">
              <a:lnSpc>
                <a:spcPts val="4574"/>
              </a:lnSpc>
            </a:pPr>
            <a:r>
              <a:rPr lang="en-US" sz="3267">
                <a:solidFill>
                  <a:srgbClr val="000000"/>
                </a:solidFill>
                <a:latin typeface="Poppins"/>
                <a:ea typeface="Poppins"/>
                <a:cs typeface="Poppins"/>
                <a:sym typeface="Poppins"/>
              </a:rPr>
              <a:t>Database Name : cafe_management_db</a:t>
            </a:r>
          </a:p>
          <a:p>
            <a:pPr algn="just">
              <a:lnSpc>
                <a:spcPts val="4574"/>
              </a:lnSpc>
            </a:pPr>
            <a:r>
              <a:rPr lang="en-US" sz="3267">
                <a:solidFill>
                  <a:srgbClr val="000000"/>
                </a:solidFill>
                <a:latin typeface="Poppins"/>
                <a:ea typeface="Poppins"/>
                <a:cs typeface="Poppins"/>
                <a:sym typeface="Poppins"/>
              </a:rPr>
              <a:t>Number of table : 10</a:t>
            </a:r>
          </a:p>
          <a:p>
            <a:pPr algn="just" marL="705508" indent="-352754" lvl="1">
              <a:lnSpc>
                <a:spcPts val="4574"/>
              </a:lnSpc>
              <a:buFont typeface="Arial"/>
              <a:buChar char="•"/>
            </a:pPr>
            <a:r>
              <a:rPr lang="en-US" sz="3267">
                <a:solidFill>
                  <a:srgbClr val="000000"/>
                </a:solidFill>
                <a:latin typeface="Poppins"/>
                <a:ea typeface="Poppins"/>
                <a:cs typeface="Poppins"/>
                <a:sym typeface="Poppins"/>
              </a:rPr>
              <a:t>Profile Cafe Table </a:t>
            </a:r>
          </a:p>
          <a:p>
            <a:pPr algn="just" marL="705508" indent="-352754" lvl="1">
              <a:lnSpc>
                <a:spcPts val="4574"/>
              </a:lnSpc>
              <a:buFont typeface="Arial"/>
              <a:buChar char="•"/>
            </a:pPr>
            <a:r>
              <a:rPr lang="en-US" sz="3267">
                <a:solidFill>
                  <a:srgbClr val="000000"/>
                </a:solidFill>
                <a:latin typeface="Poppins"/>
                <a:ea typeface="Poppins"/>
                <a:cs typeface="Poppins"/>
                <a:sym typeface="Poppins"/>
              </a:rPr>
              <a:t>Cabang Cafe</a:t>
            </a:r>
          </a:p>
          <a:p>
            <a:pPr algn="just" marL="705508" indent="-352754" lvl="1">
              <a:lnSpc>
                <a:spcPts val="4574"/>
              </a:lnSpc>
              <a:buFont typeface="Arial"/>
              <a:buChar char="•"/>
            </a:pPr>
            <a:r>
              <a:rPr lang="en-US" sz="3267">
                <a:solidFill>
                  <a:srgbClr val="000000"/>
                </a:solidFill>
                <a:latin typeface="Poppins"/>
                <a:ea typeface="Poppins"/>
                <a:cs typeface="Poppins"/>
                <a:sym typeface="Poppins"/>
              </a:rPr>
              <a:t>Menus Table</a:t>
            </a:r>
          </a:p>
          <a:p>
            <a:pPr algn="just" marL="705508" indent="-352754" lvl="1">
              <a:lnSpc>
                <a:spcPts val="4574"/>
              </a:lnSpc>
              <a:buFont typeface="Arial"/>
              <a:buChar char="•"/>
            </a:pPr>
            <a:r>
              <a:rPr lang="en-US" sz="3267">
                <a:solidFill>
                  <a:srgbClr val="000000"/>
                </a:solidFill>
                <a:latin typeface="Poppins"/>
                <a:ea typeface="Poppins"/>
                <a:cs typeface="Poppins"/>
                <a:sym typeface="Poppins"/>
              </a:rPr>
              <a:t>Status Menu Cabang Table</a:t>
            </a:r>
          </a:p>
          <a:p>
            <a:pPr algn="just" marL="705508" indent="-352754" lvl="1">
              <a:lnSpc>
                <a:spcPts val="4574"/>
              </a:lnSpc>
              <a:buFont typeface="Arial"/>
              <a:buChar char="•"/>
            </a:pPr>
            <a:r>
              <a:rPr lang="en-US" sz="3267">
                <a:solidFill>
                  <a:srgbClr val="000000"/>
                </a:solidFill>
                <a:latin typeface="Poppins"/>
                <a:ea typeface="Poppins"/>
                <a:cs typeface="Poppins"/>
                <a:sym typeface="Poppins"/>
              </a:rPr>
              <a:t>Customers Table</a:t>
            </a:r>
          </a:p>
          <a:p>
            <a:pPr algn="just" marL="705508" indent="-352754" lvl="1">
              <a:lnSpc>
                <a:spcPts val="4574"/>
              </a:lnSpc>
              <a:spcBef>
                <a:spcPct val="0"/>
              </a:spcBef>
              <a:buFont typeface="Arial"/>
              <a:buChar char="•"/>
            </a:pPr>
            <a:r>
              <a:rPr lang="en-US" sz="3267">
                <a:solidFill>
                  <a:srgbClr val="000000"/>
                </a:solidFill>
                <a:latin typeface="Poppins"/>
                <a:ea typeface="Poppins"/>
                <a:cs typeface="Poppins"/>
                <a:sym typeface="Poppins"/>
              </a:rPr>
              <a:t>Transactions Table Details Transaction Table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14107258" y="2532572"/>
            <a:ext cx="3038594" cy="9385619"/>
          </a:xfrm>
          <a:custGeom>
            <a:avLst/>
            <a:gdLst/>
            <a:ahLst/>
            <a:cxnLst/>
            <a:rect r="r" b="b" t="t" l="l"/>
            <a:pathLst>
              <a:path h="9385619" w="3038594">
                <a:moveTo>
                  <a:pt x="0" y="0"/>
                </a:moveTo>
                <a:lnTo>
                  <a:pt x="3038595" y="0"/>
                </a:lnTo>
                <a:lnTo>
                  <a:pt x="3038595" y="9385620"/>
                </a:lnTo>
                <a:lnTo>
                  <a:pt x="0" y="93856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783703">
            <a:off x="-73111" y="1750374"/>
            <a:ext cx="2440159" cy="3395003"/>
          </a:xfrm>
          <a:custGeom>
            <a:avLst/>
            <a:gdLst/>
            <a:ahLst/>
            <a:cxnLst/>
            <a:rect r="r" b="b" t="t" l="l"/>
            <a:pathLst>
              <a:path h="3395003" w="2440159">
                <a:moveTo>
                  <a:pt x="0" y="0"/>
                </a:moveTo>
                <a:lnTo>
                  <a:pt x="2440159" y="0"/>
                </a:lnTo>
                <a:lnTo>
                  <a:pt x="2440159" y="3395004"/>
                </a:lnTo>
                <a:lnTo>
                  <a:pt x="0" y="33950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1776803">
            <a:off x="16147912" y="-27725"/>
            <a:ext cx="2222777" cy="3092559"/>
          </a:xfrm>
          <a:custGeom>
            <a:avLst/>
            <a:gdLst/>
            <a:ahLst/>
            <a:cxnLst/>
            <a:rect r="r" b="b" t="t" l="l"/>
            <a:pathLst>
              <a:path h="3092559" w="2222777">
                <a:moveTo>
                  <a:pt x="2222776" y="0"/>
                </a:moveTo>
                <a:lnTo>
                  <a:pt x="0" y="0"/>
                </a:lnTo>
                <a:lnTo>
                  <a:pt x="0" y="3092559"/>
                </a:lnTo>
                <a:lnTo>
                  <a:pt x="2222776" y="3092559"/>
                </a:lnTo>
                <a:lnTo>
                  <a:pt x="222277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1146968" y="4731995"/>
            <a:ext cx="3632157" cy="10882869"/>
          </a:xfrm>
          <a:custGeom>
            <a:avLst/>
            <a:gdLst/>
            <a:ahLst/>
            <a:cxnLst/>
            <a:rect r="r" b="b" t="t" l="l"/>
            <a:pathLst>
              <a:path h="10882869" w="3632157">
                <a:moveTo>
                  <a:pt x="0" y="0"/>
                </a:moveTo>
                <a:lnTo>
                  <a:pt x="3632158" y="0"/>
                </a:lnTo>
                <a:lnTo>
                  <a:pt x="3632158" y="10882869"/>
                </a:lnTo>
                <a:lnTo>
                  <a:pt x="0" y="108828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4214586" y="1860971"/>
            <a:ext cx="12371008" cy="7708741"/>
          </a:xfrm>
          <a:prstGeom prst="rect">
            <a:avLst/>
          </a:prstGeom>
        </p:spPr>
        <p:txBody>
          <a:bodyPr anchor="t" rtlCol="false" tIns="0" lIns="0" bIns="0" rIns="0">
            <a:spAutoFit/>
          </a:bodyPr>
          <a:lstStyle/>
          <a:p>
            <a:pPr algn="just" marL="680269" indent="-340135" lvl="1">
              <a:lnSpc>
                <a:spcPts val="4411"/>
              </a:lnSpc>
              <a:buFont typeface="Arial"/>
              <a:buChar char="•"/>
            </a:pPr>
            <a:r>
              <a:rPr lang="en-US" sz="3150">
                <a:solidFill>
                  <a:srgbClr val="000000"/>
                </a:solidFill>
                <a:latin typeface="Poppins"/>
                <a:ea typeface="Poppins"/>
                <a:cs typeface="Poppins"/>
                <a:sym typeface="Poppins"/>
              </a:rPr>
              <a:t>Suppliers Table</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Reservations Table</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Tables Table</a:t>
            </a:r>
          </a:p>
          <a:p>
            <a:pPr algn="just">
              <a:lnSpc>
                <a:spcPts val="4411"/>
              </a:lnSpc>
            </a:pPr>
            <a:r>
              <a:rPr lang="en-US" sz="3150">
                <a:solidFill>
                  <a:srgbClr val="000000"/>
                </a:solidFill>
                <a:latin typeface="Poppins"/>
                <a:ea typeface="Poppins"/>
                <a:cs typeface="Poppins"/>
                <a:sym typeface="Poppins"/>
              </a:rPr>
              <a:t>Number of Views : 5</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vw_menu_per_cabang</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vw_customer_orders</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vw_stock_per_menu</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vw_daily_sales</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vw_top_customers</a:t>
            </a:r>
          </a:p>
          <a:p>
            <a:pPr algn="just">
              <a:lnSpc>
                <a:spcPts val="4411"/>
              </a:lnSpc>
            </a:pPr>
            <a:r>
              <a:rPr lang="en-US" sz="3150">
                <a:solidFill>
                  <a:srgbClr val="000000"/>
                </a:solidFill>
                <a:latin typeface="Poppins"/>
                <a:ea typeface="Poppins"/>
                <a:cs typeface="Poppins"/>
                <a:sym typeface="Poppins"/>
              </a:rPr>
              <a:t>Number of Procedure : 3</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proc_AddNewTransaction</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proc_AddStockToCabang</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proc_UpdateMenuPrice</a:t>
            </a:r>
          </a:p>
          <a:p>
            <a:pPr algn="just">
              <a:lnSpc>
                <a:spcPts val="4411"/>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4020645" y="8164833"/>
            <a:ext cx="763717" cy="76371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8883"/>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14917862" y="8164833"/>
            <a:ext cx="763717" cy="76371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C7C2"/>
            </a:solidFill>
          </p:spPr>
        </p:sp>
        <p:sp>
          <p:nvSpPr>
            <p:cNvPr name="TextBox 29" id="29"/>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0" id="30"/>
          <p:cNvGrpSpPr/>
          <p:nvPr/>
        </p:nvGrpSpPr>
        <p:grpSpPr>
          <a:xfrm rot="0">
            <a:off x="15815080" y="8164833"/>
            <a:ext cx="763717" cy="76371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D3C4"/>
            </a:solidFill>
          </p:spPr>
        </p:sp>
        <p:sp>
          <p:nvSpPr>
            <p:cNvPr name="TextBox 32" id="32"/>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sp>
        <p:nvSpPr>
          <p:cNvPr name="Freeform 33" id="33"/>
          <p:cNvSpPr/>
          <p:nvPr/>
        </p:nvSpPr>
        <p:spPr>
          <a:xfrm flipH="true" flipV="false" rot="0">
            <a:off x="-827537" y="7002349"/>
            <a:ext cx="3462106" cy="3717697"/>
          </a:xfrm>
          <a:custGeom>
            <a:avLst/>
            <a:gdLst/>
            <a:ahLst/>
            <a:cxnLst/>
            <a:rect r="r" b="b" t="t" l="l"/>
            <a:pathLst>
              <a:path h="3717697" w="3462106">
                <a:moveTo>
                  <a:pt x="3462105" y="0"/>
                </a:moveTo>
                <a:lnTo>
                  <a:pt x="0" y="0"/>
                </a:lnTo>
                <a:lnTo>
                  <a:pt x="0" y="3717697"/>
                </a:lnTo>
                <a:lnTo>
                  <a:pt x="3462105" y="3717697"/>
                </a:lnTo>
                <a:lnTo>
                  <a:pt x="34621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0">
            <a:off x="15963541" y="411422"/>
            <a:ext cx="2934148" cy="3150763"/>
          </a:xfrm>
          <a:custGeom>
            <a:avLst/>
            <a:gdLst/>
            <a:ahLst/>
            <a:cxnLst/>
            <a:rect r="r" b="b" t="t" l="l"/>
            <a:pathLst>
              <a:path h="3150763" w="2934148">
                <a:moveTo>
                  <a:pt x="0" y="0"/>
                </a:moveTo>
                <a:lnTo>
                  <a:pt x="2934148" y="0"/>
                </a:lnTo>
                <a:lnTo>
                  <a:pt x="2934148" y="3150763"/>
                </a:lnTo>
                <a:lnTo>
                  <a:pt x="0" y="3150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5" id="35"/>
          <p:cNvSpPr txBox="true"/>
          <p:nvPr/>
        </p:nvSpPr>
        <p:spPr>
          <a:xfrm rot="0">
            <a:off x="4455543" y="3353327"/>
            <a:ext cx="12371008" cy="5507871"/>
          </a:xfrm>
          <a:prstGeom prst="rect">
            <a:avLst/>
          </a:prstGeom>
        </p:spPr>
        <p:txBody>
          <a:bodyPr anchor="t" rtlCol="false" tIns="0" lIns="0" bIns="0" rIns="0">
            <a:spAutoFit/>
          </a:bodyPr>
          <a:lstStyle/>
          <a:p>
            <a:pPr algn="just">
              <a:lnSpc>
                <a:spcPts val="4411"/>
              </a:lnSpc>
            </a:pPr>
            <a:r>
              <a:rPr lang="en-US" sz="3150">
                <a:solidFill>
                  <a:srgbClr val="000000"/>
                </a:solidFill>
                <a:latin typeface="Poppins"/>
                <a:ea typeface="Poppins"/>
                <a:cs typeface="Poppins"/>
                <a:sym typeface="Poppins"/>
              </a:rPr>
              <a:t>Number of Triggers : 4 </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Trg_UpdateStockAfterOrder</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Trg_PreventNegativeStock</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Trg_CascadeDeleteCabang</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Trg_RestoreStockOnOrderCancel</a:t>
            </a:r>
          </a:p>
          <a:p>
            <a:pPr algn="just">
              <a:lnSpc>
                <a:spcPts val="4411"/>
              </a:lnSpc>
            </a:pPr>
            <a:r>
              <a:rPr lang="en-US" sz="3150">
                <a:solidFill>
                  <a:srgbClr val="000000"/>
                </a:solidFill>
                <a:latin typeface="Poppins"/>
                <a:ea typeface="Poppins"/>
                <a:cs typeface="Poppins"/>
                <a:sym typeface="Poppins"/>
              </a:rPr>
              <a:t>Number of Indexes : 2 </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idx_fulltext_menus_name_description </a:t>
            </a:r>
          </a:p>
          <a:p>
            <a:pPr algn="just" marL="680269" indent="-340135" lvl="1">
              <a:lnSpc>
                <a:spcPts val="4411"/>
              </a:lnSpc>
              <a:buFont typeface="Arial"/>
              <a:buChar char="•"/>
            </a:pPr>
            <a:r>
              <a:rPr lang="en-US" sz="3150">
                <a:solidFill>
                  <a:srgbClr val="000000"/>
                </a:solidFill>
                <a:latin typeface="Poppins"/>
                <a:ea typeface="Poppins"/>
                <a:cs typeface="Poppins"/>
                <a:sym typeface="Poppins"/>
              </a:rPr>
              <a:t>idx_fulltext_customers_name_contact</a:t>
            </a:r>
          </a:p>
          <a:p>
            <a:pPr algn="just">
              <a:lnSpc>
                <a:spcPts val="4411"/>
              </a:lnSpc>
            </a:pPr>
          </a:p>
          <a:p>
            <a:pPr algn="just">
              <a:lnSpc>
                <a:spcPts val="441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0" y="1877323"/>
            <a:ext cx="18288000" cy="7155180"/>
          </a:xfrm>
          <a:custGeom>
            <a:avLst/>
            <a:gdLst/>
            <a:ahLst/>
            <a:cxnLst/>
            <a:rect r="r" b="b" t="t" l="l"/>
            <a:pathLst>
              <a:path h="7155180" w="18288000">
                <a:moveTo>
                  <a:pt x="0" y="0"/>
                </a:moveTo>
                <a:lnTo>
                  <a:pt x="18288000" y="0"/>
                </a:lnTo>
                <a:lnTo>
                  <a:pt x="18288000" y="7155180"/>
                </a:lnTo>
                <a:lnTo>
                  <a:pt x="0" y="7155180"/>
                </a:lnTo>
                <a:lnTo>
                  <a:pt x="0" y="0"/>
                </a:lnTo>
                <a:close/>
              </a:path>
            </a:pathLst>
          </a:custGeom>
          <a:blipFill>
            <a:blip r:embed="rId7"/>
            <a:stretch>
              <a:fillRect l="0" t="0" r="0" b="0"/>
            </a:stretch>
          </a:blipFill>
        </p:spPr>
      </p:sp>
      <p:sp>
        <p:nvSpPr>
          <p:cNvPr name="TextBox 27" id="27"/>
          <p:cNvSpPr txBox="true"/>
          <p:nvPr/>
        </p:nvSpPr>
        <p:spPr>
          <a:xfrm rot="0">
            <a:off x="0" y="200743"/>
            <a:ext cx="12329420" cy="1236345"/>
          </a:xfrm>
          <a:prstGeom prst="rect">
            <a:avLst/>
          </a:prstGeom>
        </p:spPr>
        <p:txBody>
          <a:bodyPr anchor="t" rtlCol="false" tIns="0" lIns="0" bIns="0" rIns="0">
            <a:spAutoFit/>
          </a:bodyPr>
          <a:lstStyle/>
          <a:p>
            <a:pPr algn="ctr">
              <a:lnSpc>
                <a:spcPts val="10080"/>
              </a:lnSpc>
            </a:pPr>
            <a:r>
              <a:rPr lang="en-US" b="true" sz="7200">
                <a:solidFill>
                  <a:srgbClr val="000000"/>
                </a:solidFill>
                <a:latin typeface="One Little Font Bold"/>
                <a:ea typeface="One Little Font Bold"/>
                <a:cs typeface="One Little Font Bold"/>
                <a:sym typeface="One Little Font Bold"/>
              </a:rPr>
              <a:t>ENTITY RELATIONSHIP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4020645" y="8164833"/>
            <a:ext cx="763717" cy="76371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8883"/>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14917862" y="8164833"/>
            <a:ext cx="763717" cy="76371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C7C2"/>
            </a:solidFill>
          </p:spPr>
        </p:sp>
        <p:sp>
          <p:nvSpPr>
            <p:cNvPr name="TextBox 29" id="29"/>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grpSp>
        <p:nvGrpSpPr>
          <p:cNvPr name="Group 30" id="30"/>
          <p:cNvGrpSpPr/>
          <p:nvPr/>
        </p:nvGrpSpPr>
        <p:grpSpPr>
          <a:xfrm rot="0">
            <a:off x="15815080" y="8164833"/>
            <a:ext cx="763717" cy="76371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D3C4"/>
            </a:solidFill>
          </p:spPr>
        </p:sp>
        <p:sp>
          <p:nvSpPr>
            <p:cNvPr name="TextBox 32" id="32"/>
            <p:cNvSpPr txBox="true"/>
            <p:nvPr/>
          </p:nvSpPr>
          <p:spPr>
            <a:xfrm>
              <a:off x="76200" y="9525"/>
              <a:ext cx="660400" cy="727075"/>
            </a:xfrm>
            <a:prstGeom prst="rect">
              <a:avLst/>
            </a:prstGeom>
          </p:spPr>
          <p:txBody>
            <a:bodyPr anchor="ctr" rtlCol="false" tIns="50800" lIns="50800" bIns="50800" rIns="50800"/>
            <a:lstStyle/>
            <a:p>
              <a:pPr algn="ctr">
                <a:lnSpc>
                  <a:spcPts val="3359"/>
                </a:lnSpc>
              </a:pPr>
            </a:p>
          </p:txBody>
        </p:sp>
      </p:grpSp>
      <p:sp>
        <p:nvSpPr>
          <p:cNvPr name="Freeform 33" id="33"/>
          <p:cNvSpPr/>
          <p:nvPr/>
        </p:nvSpPr>
        <p:spPr>
          <a:xfrm flipH="true" flipV="false" rot="0">
            <a:off x="-827537" y="7002349"/>
            <a:ext cx="3462106" cy="3717697"/>
          </a:xfrm>
          <a:custGeom>
            <a:avLst/>
            <a:gdLst/>
            <a:ahLst/>
            <a:cxnLst/>
            <a:rect r="r" b="b" t="t" l="l"/>
            <a:pathLst>
              <a:path h="3717697" w="3462106">
                <a:moveTo>
                  <a:pt x="3462105" y="0"/>
                </a:moveTo>
                <a:lnTo>
                  <a:pt x="0" y="0"/>
                </a:lnTo>
                <a:lnTo>
                  <a:pt x="0" y="3717697"/>
                </a:lnTo>
                <a:lnTo>
                  <a:pt x="3462105" y="3717697"/>
                </a:lnTo>
                <a:lnTo>
                  <a:pt x="34621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0">
            <a:off x="15963541" y="411422"/>
            <a:ext cx="2934148" cy="3150763"/>
          </a:xfrm>
          <a:custGeom>
            <a:avLst/>
            <a:gdLst/>
            <a:ahLst/>
            <a:cxnLst/>
            <a:rect r="r" b="b" t="t" l="l"/>
            <a:pathLst>
              <a:path h="3150763" w="2934148">
                <a:moveTo>
                  <a:pt x="0" y="0"/>
                </a:moveTo>
                <a:lnTo>
                  <a:pt x="2934148" y="0"/>
                </a:lnTo>
                <a:lnTo>
                  <a:pt x="2934148" y="3150763"/>
                </a:lnTo>
                <a:lnTo>
                  <a:pt x="0" y="3150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3101244" y="2896503"/>
            <a:ext cx="11301259" cy="6032047"/>
          </a:xfrm>
          <a:custGeom>
            <a:avLst/>
            <a:gdLst/>
            <a:ahLst/>
            <a:cxnLst/>
            <a:rect r="r" b="b" t="t" l="l"/>
            <a:pathLst>
              <a:path h="6032047" w="11301259">
                <a:moveTo>
                  <a:pt x="0" y="0"/>
                </a:moveTo>
                <a:lnTo>
                  <a:pt x="11301259" y="0"/>
                </a:lnTo>
                <a:lnTo>
                  <a:pt x="11301259" y="6032047"/>
                </a:lnTo>
                <a:lnTo>
                  <a:pt x="0" y="6032047"/>
                </a:lnTo>
                <a:lnTo>
                  <a:pt x="0" y="0"/>
                </a:lnTo>
                <a:close/>
              </a:path>
            </a:pathLst>
          </a:custGeom>
          <a:blipFill>
            <a:blip r:embed="rId5"/>
            <a:stretch>
              <a:fillRect l="0" t="0" r="0" b="0"/>
            </a:stretch>
          </a:blipFill>
        </p:spPr>
      </p:sp>
      <p:sp>
        <p:nvSpPr>
          <p:cNvPr name="TextBox 36" id="36"/>
          <p:cNvSpPr txBox="true"/>
          <p:nvPr/>
        </p:nvSpPr>
        <p:spPr>
          <a:xfrm rot="0">
            <a:off x="3761054" y="1893696"/>
            <a:ext cx="10765891" cy="1141442"/>
          </a:xfrm>
          <a:prstGeom prst="rect">
            <a:avLst/>
          </a:prstGeom>
        </p:spPr>
        <p:txBody>
          <a:bodyPr anchor="t" rtlCol="false" tIns="0" lIns="0" bIns="0" rIns="0">
            <a:spAutoFit/>
          </a:bodyPr>
          <a:lstStyle/>
          <a:p>
            <a:pPr algn="l" marL="0" indent="0" lvl="0">
              <a:lnSpc>
                <a:spcPts val="8635"/>
              </a:lnSpc>
            </a:pPr>
            <a:r>
              <a:rPr lang="en-US" b="true" sz="8635">
                <a:solidFill>
                  <a:srgbClr val="000000"/>
                </a:solidFill>
                <a:latin typeface="One Little Font Bold"/>
                <a:ea typeface="One Little Font Bold"/>
                <a:cs typeface="One Little Font Bold"/>
                <a:sym typeface="One Little Font Bold"/>
              </a:rPr>
              <a:t>SCHEMATIC PROGRAM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1369325">
            <a:off x="16605379" y="-137432"/>
            <a:ext cx="2839082" cy="8199516"/>
          </a:xfrm>
          <a:custGeom>
            <a:avLst/>
            <a:gdLst/>
            <a:ahLst/>
            <a:cxnLst/>
            <a:rect r="r" b="b" t="t" l="l"/>
            <a:pathLst>
              <a:path h="8199516" w="2839082">
                <a:moveTo>
                  <a:pt x="0" y="0"/>
                </a:moveTo>
                <a:lnTo>
                  <a:pt x="2839082" y="0"/>
                </a:lnTo>
                <a:lnTo>
                  <a:pt x="2839082" y="8199517"/>
                </a:lnTo>
                <a:lnTo>
                  <a:pt x="0" y="8199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0">
            <a:off x="-257926" y="1674619"/>
            <a:ext cx="2967798" cy="3348714"/>
          </a:xfrm>
          <a:custGeom>
            <a:avLst/>
            <a:gdLst/>
            <a:ahLst/>
            <a:cxnLst/>
            <a:rect r="r" b="b" t="t" l="l"/>
            <a:pathLst>
              <a:path h="3348714" w="2967798">
                <a:moveTo>
                  <a:pt x="2967797" y="0"/>
                </a:moveTo>
                <a:lnTo>
                  <a:pt x="0" y="0"/>
                </a:lnTo>
                <a:lnTo>
                  <a:pt x="0" y="3348714"/>
                </a:lnTo>
                <a:lnTo>
                  <a:pt x="2967797" y="3348714"/>
                </a:lnTo>
                <a:lnTo>
                  <a:pt x="296779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976933">
            <a:off x="15597401" y="7583943"/>
            <a:ext cx="2967798" cy="3348714"/>
          </a:xfrm>
          <a:custGeom>
            <a:avLst/>
            <a:gdLst/>
            <a:ahLst/>
            <a:cxnLst/>
            <a:rect r="r" b="b" t="t" l="l"/>
            <a:pathLst>
              <a:path h="3348714" w="2967798">
                <a:moveTo>
                  <a:pt x="0" y="0"/>
                </a:moveTo>
                <a:lnTo>
                  <a:pt x="2967798" y="0"/>
                </a:lnTo>
                <a:lnTo>
                  <a:pt x="2967798" y="3348714"/>
                </a:lnTo>
                <a:lnTo>
                  <a:pt x="0" y="33487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4000148" y="2375963"/>
            <a:ext cx="10288264" cy="2831266"/>
          </a:xfrm>
          <a:custGeom>
            <a:avLst/>
            <a:gdLst/>
            <a:ahLst/>
            <a:cxnLst/>
            <a:rect r="r" b="b" t="t" l="l"/>
            <a:pathLst>
              <a:path h="2831266" w="10288264">
                <a:moveTo>
                  <a:pt x="0" y="0"/>
                </a:moveTo>
                <a:lnTo>
                  <a:pt x="10288264" y="0"/>
                </a:lnTo>
                <a:lnTo>
                  <a:pt x="10288264" y="2831267"/>
                </a:lnTo>
                <a:lnTo>
                  <a:pt x="0" y="2831267"/>
                </a:lnTo>
                <a:lnTo>
                  <a:pt x="0" y="0"/>
                </a:lnTo>
                <a:close/>
              </a:path>
            </a:pathLst>
          </a:custGeom>
          <a:blipFill>
            <a:blip r:embed="rId7"/>
            <a:stretch>
              <a:fillRect l="0" t="0" r="0" b="0"/>
            </a:stretch>
          </a:blipFill>
        </p:spPr>
      </p:sp>
      <p:sp>
        <p:nvSpPr>
          <p:cNvPr name="Freeform 28" id="28"/>
          <p:cNvSpPr/>
          <p:nvPr/>
        </p:nvSpPr>
        <p:spPr>
          <a:xfrm flipH="false" flipV="false" rot="0">
            <a:off x="4000148" y="6070304"/>
            <a:ext cx="10415429" cy="2793920"/>
          </a:xfrm>
          <a:custGeom>
            <a:avLst/>
            <a:gdLst/>
            <a:ahLst/>
            <a:cxnLst/>
            <a:rect r="r" b="b" t="t" l="l"/>
            <a:pathLst>
              <a:path h="2793920" w="10415429">
                <a:moveTo>
                  <a:pt x="0" y="0"/>
                </a:moveTo>
                <a:lnTo>
                  <a:pt x="10415430" y="0"/>
                </a:lnTo>
                <a:lnTo>
                  <a:pt x="10415430" y="2793920"/>
                </a:lnTo>
                <a:lnTo>
                  <a:pt x="0" y="2793920"/>
                </a:lnTo>
                <a:lnTo>
                  <a:pt x="0" y="0"/>
                </a:lnTo>
                <a:close/>
              </a:path>
            </a:pathLst>
          </a:custGeom>
          <a:blipFill>
            <a:blip r:embed="rId8"/>
            <a:stretch>
              <a:fillRect l="0" t="0" r="0" b="0"/>
            </a:stretch>
          </a:blipFill>
        </p:spPr>
      </p:sp>
      <p:sp>
        <p:nvSpPr>
          <p:cNvPr name="TextBox 29" id="29"/>
          <p:cNvSpPr txBox="true"/>
          <p:nvPr/>
        </p:nvSpPr>
        <p:spPr>
          <a:xfrm rot="0">
            <a:off x="-609367" y="438274"/>
            <a:ext cx="13943776" cy="1236345"/>
          </a:xfrm>
          <a:prstGeom prst="rect">
            <a:avLst/>
          </a:prstGeom>
        </p:spPr>
        <p:txBody>
          <a:bodyPr anchor="t" rtlCol="false" tIns="0" lIns="0" bIns="0" rIns="0">
            <a:spAutoFit/>
          </a:bodyPr>
          <a:lstStyle/>
          <a:p>
            <a:pPr algn="ctr" marL="0" indent="0" lvl="0">
              <a:lnSpc>
                <a:spcPts val="10080"/>
              </a:lnSpc>
              <a:spcBef>
                <a:spcPct val="0"/>
              </a:spcBef>
            </a:pPr>
          </a:p>
        </p:txBody>
      </p:sp>
      <p:sp>
        <p:nvSpPr>
          <p:cNvPr name="TextBox 30" id="30"/>
          <p:cNvSpPr txBox="true"/>
          <p:nvPr/>
        </p:nvSpPr>
        <p:spPr>
          <a:xfrm rot="0">
            <a:off x="7642664" y="5607389"/>
            <a:ext cx="3003233"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Poppins Bold"/>
                <a:ea typeface="Poppins Bold"/>
                <a:cs typeface="Poppins Bold"/>
                <a:sym typeface="Poppins Bold"/>
              </a:rPr>
              <a:t>Cabang Cafe Table</a:t>
            </a:r>
          </a:p>
        </p:txBody>
      </p:sp>
      <p:sp>
        <p:nvSpPr>
          <p:cNvPr name="TextBox 31" id="31"/>
          <p:cNvSpPr txBox="true"/>
          <p:nvPr/>
        </p:nvSpPr>
        <p:spPr>
          <a:xfrm rot="0">
            <a:off x="2400461" y="281940"/>
            <a:ext cx="7924120" cy="1293495"/>
          </a:xfrm>
          <a:prstGeom prst="rect">
            <a:avLst/>
          </a:prstGeom>
        </p:spPr>
        <p:txBody>
          <a:bodyPr anchor="t" rtlCol="false" tIns="0" lIns="0" bIns="0" rIns="0">
            <a:spAutoFit/>
          </a:bodyPr>
          <a:lstStyle/>
          <a:p>
            <a:pPr algn="ctr">
              <a:lnSpc>
                <a:spcPts val="10080"/>
              </a:lnSpc>
              <a:spcBef>
                <a:spcPct val="0"/>
              </a:spcBef>
            </a:pPr>
            <a:r>
              <a:rPr lang="en-US" b="true" sz="7200">
                <a:solidFill>
                  <a:srgbClr val="000000"/>
                </a:solidFill>
                <a:latin typeface="Poppins Bold"/>
                <a:ea typeface="Poppins Bold"/>
                <a:cs typeface="Poppins Bold"/>
                <a:sym typeface="Poppins Bold"/>
              </a:rPr>
              <a:t>TABLE DESIGN</a:t>
            </a:r>
          </a:p>
        </p:txBody>
      </p:sp>
      <p:sp>
        <p:nvSpPr>
          <p:cNvPr name="TextBox 32" id="32"/>
          <p:cNvSpPr txBox="true"/>
          <p:nvPr/>
        </p:nvSpPr>
        <p:spPr>
          <a:xfrm rot="0">
            <a:off x="5182220" y="1911143"/>
            <a:ext cx="7924120"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Poppins Bold"/>
                <a:ea typeface="Poppins Bold"/>
                <a:cs typeface="Poppins Bold"/>
                <a:sym typeface="Poppins Bold"/>
              </a:rPr>
              <a:t>Profile Cafe Table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833855">
            <a:off x="-600331" y="1557504"/>
            <a:ext cx="3152966" cy="4114800"/>
          </a:xfrm>
          <a:custGeom>
            <a:avLst/>
            <a:gdLst/>
            <a:ahLst/>
            <a:cxnLst/>
            <a:rect r="r" b="b" t="t" l="l"/>
            <a:pathLst>
              <a:path h="4114800" w="3152966">
                <a:moveTo>
                  <a:pt x="0" y="0"/>
                </a:moveTo>
                <a:lnTo>
                  <a:pt x="3152965" y="0"/>
                </a:lnTo>
                <a:lnTo>
                  <a:pt x="31529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6834000">
            <a:off x="15735340" y="6395606"/>
            <a:ext cx="3152965" cy="4114800"/>
          </a:xfrm>
          <a:custGeom>
            <a:avLst/>
            <a:gdLst/>
            <a:ahLst/>
            <a:cxnLst/>
            <a:rect r="r" b="b" t="t" l="l"/>
            <a:pathLst>
              <a:path h="4114800" w="3152965">
                <a:moveTo>
                  <a:pt x="3152966" y="0"/>
                </a:moveTo>
                <a:lnTo>
                  <a:pt x="0" y="0"/>
                </a:lnTo>
                <a:lnTo>
                  <a:pt x="0" y="4114800"/>
                </a:lnTo>
                <a:lnTo>
                  <a:pt x="3152966" y="4114800"/>
                </a:lnTo>
                <a:lnTo>
                  <a:pt x="315296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true" flipV="false" rot="0">
            <a:off x="-32738" y="5286829"/>
            <a:ext cx="2988374" cy="7200900"/>
          </a:xfrm>
          <a:custGeom>
            <a:avLst/>
            <a:gdLst/>
            <a:ahLst/>
            <a:cxnLst/>
            <a:rect r="r" b="b" t="t" l="l"/>
            <a:pathLst>
              <a:path h="7200900" w="2988374">
                <a:moveTo>
                  <a:pt x="2988374" y="0"/>
                </a:moveTo>
                <a:lnTo>
                  <a:pt x="0" y="0"/>
                </a:lnTo>
                <a:lnTo>
                  <a:pt x="0" y="7200900"/>
                </a:lnTo>
                <a:lnTo>
                  <a:pt x="2988374" y="7200900"/>
                </a:lnTo>
                <a:lnTo>
                  <a:pt x="298837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3959916" y="3136499"/>
            <a:ext cx="10368167" cy="1392739"/>
          </a:xfrm>
          <a:custGeom>
            <a:avLst/>
            <a:gdLst/>
            <a:ahLst/>
            <a:cxnLst/>
            <a:rect r="r" b="b" t="t" l="l"/>
            <a:pathLst>
              <a:path h="1392739" w="10368167">
                <a:moveTo>
                  <a:pt x="0" y="0"/>
                </a:moveTo>
                <a:lnTo>
                  <a:pt x="10368168" y="0"/>
                </a:lnTo>
                <a:lnTo>
                  <a:pt x="10368168" y="1392739"/>
                </a:lnTo>
                <a:lnTo>
                  <a:pt x="0" y="1392739"/>
                </a:lnTo>
                <a:lnTo>
                  <a:pt x="0" y="0"/>
                </a:lnTo>
                <a:close/>
              </a:path>
            </a:pathLst>
          </a:custGeom>
          <a:blipFill>
            <a:blip r:embed="rId7"/>
            <a:stretch>
              <a:fillRect l="0" t="0" r="0" b="0"/>
            </a:stretch>
          </a:blipFill>
        </p:spPr>
      </p:sp>
      <p:sp>
        <p:nvSpPr>
          <p:cNvPr name="Freeform 28" id="28"/>
          <p:cNvSpPr/>
          <p:nvPr/>
        </p:nvSpPr>
        <p:spPr>
          <a:xfrm flipH="false" flipV="false" rot="0">
            <a:off x="3959916" y="5643911"/>
            <a:ext cx="10324397" cy="2595848"/>
          </a:xfrm>
          <a:custGeom>
            <a:avLst/>
            <a:gdLst/>
            <a:ahLst/>
            <a:cxnLst/>
            <a:rect r="r" b="b" t="t" l="l"/>
            <a:pathLst>
              <a:path h="2595848" w="10324397">
                <a:moveTo>
                  <a:pt x="0" y="0"/>
                </a:moveTo>
                <a:lnTo>
                  <a:pt x="10324397" y="0"/>
                </a:lnTo>
                <a:lnTo>
                  <a:pt x="10324397" y="2595849"/>
                </a:lnTo>
                <a:lnTo>
                  <a:pt x="0" y="2595849"/>
                </a:lnTo>
                <a:lnTo>
                  <a:pt x="0" y="0"/>
                </a:lnTo>
                <a:close/>
              </a:path>
            </a:pathLst>
          </a:custGeom>
          <a:blipFill>
            <a:blip r:embed="rId8"/>
            <a:stretch>
              <a:fillRect l="0" t="0" r="0" b="0"/>
            </a:stretch>
          </a:blipFill>
        </p:spPr>
      </p:sp>
      <p:sp>
        <p:nvSpPr>
          <p:cNvPr name="TextBox 29" id="29"/>
          <p:cNvSpPr txBox="true"/>
          <p:nvPr/>
        </p:nvSpPr>
        <p:spPr>
          <a:xfrm rot="0">
            <a:off x="8151555" y="2593728"/>
            <a:ext cx="1984891"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Poppins Bold"/>
                <a:ea typeface="Poppins Bold"/>
                <a:cs typeface="Poppins Bold"/>
                <a:sym typeface="Poppins Bold"/>
              </a:rPr>
              <a:t>Menus Table</a:t>
            </a:r>
          </a:p>
        </p:txBody>
      </p:sp>
      <p:sp>
        <p:nvSpPr>
          <p:cNvPr name="TextBox 30" id="30"/>
          <p:cNvSpPr txBox="true"/>
          <p:nvPr/>
        </p:nvSpPr>
        <p:spPr>
          <a:xfrm rot="0">
            <a:off x="7277653" y="4269105"/>
            <a:ext cx="4227076" cy="1682115"/>
          </a:xfrm>
          <a:prstGeom prst="rect">
            <a:avLst/>
          </a:prstGeom>
        </p:spPr>
        <p:txBody>
          <a:bodyPr anchor="t" rtlCol="false" tIns="0" lIns="0" bIns="0" rIns="0">
            <a:spAutoFit/>
          </a:bodyPr>
          <a:lstStyle/>
          <a:p>
            <a:pPr algn="ctr">
              <a:lnSpc>
                <a:spcPts val="3359"/>
              </a:lnSpc>
            </a:pPr>
          </a:p>
          <a:p>
            <a:pPr algn="ctr">
              <a:lnSpc>
                <a:spcPts val="3359"/>
              </a:lnSpc>
            </a:pPr>
          </a:p>
          <a:p>
            <a:pPr algn="ctr">
              <a:lnSpc>
                <a:spcPts val="3359"/>
              </a:lnSpc>
            </a:pPr>
            <a:r>
              <a:rPr lang="en-US" sz="2400" b="true">
                <a:solidFill>
                  <a:srgbClr val="000000"/>
                </a:solidFill>
                <a:latin typeface="Poppins Bold"/>
                <a:ea typeface="Poppins Bold"/>
                <a:cs typeface="Poppins Bold"/>
                <a:sym typeface="Poppins Bold"/>
              </a:rPr>
              <a:t>Status Menu Cabang Table</a:t>
            </a:r>
          </a:p>
          <a:p>
            <a:pPr algn="ctr">
              <a:lnSpc>
                <a:spcPts val="335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726901" y="3446067"/>
            <a:ext cx="2737126" cy="7656296"/>
          </a:xfrm>
          <a:custGeom>
            <a:avLst/>
            <a:gdLst/>
            <a:ahLst/>
            <a:cxnLst/>
            <a:rect r="r" b="b" t="t" l="l"/>
            <a:pathLst>
              <a:path h="7656296" w="2737126">
                <a:moveTo>
                  <a:pt x="0" y="0"/>
                </a:moveTo>
                <a:lnTo>
                  <a:pt x="2737126" y="0"/>
                </a:lnTo>
                <a:lnTo>
                  <a:pt x="2737126" y="7656296"/>
                </a:lnTo>
                <a:lnTo>
                  <a:pt x="0" y="7656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670721">
            <a:off x="-243875" y="1371190"/>
            <a:ext cx="2545151" cy="1962947"/>
          </a:xfrm>
          <a:custGeom>
            <a:avLst/>
            <a:gdLst/>
            <a:ahLst/>
            <a:cxnLst/>
            <a:rect r="r" b="b" t="t" l="l"/>
            <a:pathLst>
              <a:path h="1962947" w="2545151">
                <a:moveTo>
                  <a:pt x="0" y="0"/>
                </a:moveTo>
                <a:lnTo>
                  <a:pt x="2545150" y="0"/>
                </a:lnTo>
                <a:lnTo>
                  <a:pt x="2545150" y="1962947"/>
                </a:lnTo>
                <a:lnTo>
                  <a:pt x="0" y="1962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0">
            <a:off x="15168687" y="351007"/>
            <a:ext cx="3166938" cy="2442501"/>
          </a:xfrm>
          <a:custGeom>
            <a:avLst/>
            <a:gdLst/>
            <a:ahLst/>
            <a:cxnLst/>
            <a:rect r="r" b="b" t="t" l="l"/>
            <a:pathLst>
              <a:path h="2442501" w="3166938">
                <a:moveTo>
                  <a:pt x="3166938" y="0"/>
                </a:moveTo>
                <a:lnTo>
                  <a:pt x="0" y="0"/>
                </a:lnTo>
                <a:lnTo>
                  <a:pt x="0" y="2442501"/>
                </a:lnTo>
                <a:lnTo>
                  <a:pt x="3166938" y="2442501"/>
                </a:lnTo>
                <a:lnTo>
                  <a:pt x="316693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3981801" y="2793508"/>
            <a:ext cx="10324397" cy="2379528"/>
          </a:xfrm>
          <a:custGeom>
            <a:avLst/>
            <a:gdLst/>
            <a:ahLst/>
            <a:cxnLst/>
            <a:rect r="r" b="b" t="t" l="l"/>
            <a:pathLst>
              <a:path h="2379528" w="10324397">
                <a:moveTo>
                  <a:pt x="0" y="0"/>
                </a:moveTo>
                <a:lnTo>
                  <a:pt x="10324398" y="0"/>
                </a:lnTo>
                <a:lnTo>
                  <a:pt x="10324398" y="2379527"/>
                </a:lnTo>
                <a:lnTo>
                  <a:pt x="0" y="2379527"/>
                </a:lnTo>
                <a:lnTo>
                  <a:pt x="0" y="0"/>
                </a:lnTo>
                <a:close/>
              </a:path>
            </a:pathLst>
          </a:custGeom>
          <a:blipFill>
            <a:blip r:embed="rId7"/>
            <a:stretch>
              <a:fillRect l="0" t="0" r="0" b="0"/>
            </a:stretch>
          </a:blipFill>
        </p:spPr>
      </p:sp>
      <p:sp>
        <p:nvSpPr>
          <p:cNvPr name="Freeform 28" id="28"/>
          <p:cNvSpPr/>
          <p:nvPr/>
        </p:nvSpPr>
        <p:spPr>
          <a:xfrm flipH="false" flipV="false" rot="0">
            <a:off x="4038135" y="6038431"/>
            <a:ext cx="10268064" cy="2471569"/>
          </a:xfrm>
          <a:custGeom>
            <a:avLst/>
            <a:gdLst/>
            <a:ahLst/>
            <a:cxnLst/>
            <a:rect r="r" b="b" t="t" l="l"/>
            <a:pathLst>
              <a:path h="2471569" w="10268064">
                <a:moveTo>
                  <a:pt x="0" y="0"/>
                </a:moveTo>
                <a:lnTo>
                  <a:pt x="10268064" y="0"/>
                </a:lnTo>
                <a:lnTo>
                  <a:pt x="10268064" y="2471569"/>
                </a:lnTo>
                <a:lnTo>
                  <a:pt x="0" y="2471569"/>
                </a:lnTo>
                <a:lnTo>
                  <a:pt x="0" y="0"/>
                </a:lnTo>
                <a:close/>
              </a:path>
            </a:pathLst>
          </a:custGeom>
          <a:blipFill>
            <a:blip r:embed="rId8"/>
            <a:stretch>
              <a:fillRect l="0" t="0" r="0" b="0"/>
            </a:stretch>
          </a:blipFill>
        </p:spPr>
      </p:sp>
      <p:sp>
        <p:nvSpPr>
          <p:cNvPr name="TextBox 29" id="29"/>
          <p:cNvSpPr txBox="true"/>
          <p:nvPr/>
        </p:nvSpPr>
        <p:spPr>
          <a:xfrm rot="0">
            <a:off x="4400615" y="2285988"/>
            <a:ext cx="10324397"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Poppins Bold"/>
                <a:ea typeface="Poppins Bold"/>
                <a:cs typeface="Poppins Bold"/>
                <a:sym typeface="Poppins Bold"/>
              </a:rPr>
              <a:t>Customers Table</a:t>
            </a:r>
          </a:p>
        </p:txBody>
      </p:sp>
      <p:sp>
        <p:nvSpPr>
          <p:cNvPr name="TextBox 30" id="30"/>
          <p:cNvSpPr txBox="true"/>
          <p:nvPr/>
        </p:nvSpPr>
        <p:spPr>
          <a:xfrm rot="0">
            <a:off x="4400615" y="5106360"/>
            <a:ext cx="10324397" cy="1263015"/>
          </a:xfrm>
          <a:prstGeom prst="rect">
            <a:avLst/>
          </a:prstGeom>
        </p:spPr>
        <p:txBody>
          <a:bodyPr anchor="t" rtlCol="false" tIns="0" lIns="0" bIns="0" rIns="0">
            <a:spAutoFit/>
          </a:bodyPr>
          <a:lstStyle/>
          <a:p>
            <a:pPr algn="ctr">
              <a:lnSpc>
                <a:spcPts val="3359"/>
              </a:lnSpc>
            </a:pPr>
          </a:p>
          <a:p>
            <a:pPr algn="ctr">
              <a:lnSpc>
                <a:spcPts val="3359"/>
              </a:lnSpc>
            </a:pPr>
            <a:r>
              <a:rPr lang="en-US" sz="2400" b="true">
                <a:solidFill>
                  <a:srgbClr val="000000"/>
                </a:solidFill>
                <a:latin typeface="Poppins Bold"/>
                <a:ea typeface="Poppins Bold"/>
                <a:cs typeface="Poppins Bold"/>
                <a:sym typeface="Poppins Bold"/>
              </a:rPr>
              <a:t>Transactions Table </a:t>
            </a:r>
          </a:p>
          <a:p>
            <a:pPr algn="ctr">
              <a:lnSpc>
                <a:spcPts val="335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true" flipV="false" rot="0">
            <a:off x="14289848" y="259286"/>
            <a:ext cx="5452416" cy="4177913"/>
          </a:xfrm>
          <a:custGeom>
            <a:avLst/>
            <a:gdLst/>
            <a:ahLst/>
            <a:cxnLst/>
            <a:rect r="r" b="b" t="t" l="l"/>
            <a:pathLst>
              <a:path h="4177913" w="5452416">
                <a:moveTo>
                  <a:pt x="5452415" y="0"/>
                </a:moveTo>
                <a:lnTo>
                  <a:pt x="0" y="0"/>
                </a:lnTo>
                <a:lnTo>
                  <a:pt x="0" y="4177914"/>
                </a:lnTo>
                <a:lnTo>
                  <a:pt x="5452415" y="4177914"/>
                </a:lnTo>
                <a:lnTo>
                  <a:pt x="545241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999625">
            <a:off x="-538466" y="1464443"/>
            <a:ext cx="2875422" cy="8304469"/>
          </a:xfrm>
          <a:custGeom>
            <a:avLst/>
            <a:gdLst/>
            <a:ahLst/>
            <a:cxnLst/>
            <a:rect r="r" b="b" t="t" l="l"/>
            <a:pathLst>
              <a:path h="8304469" w="2875422">
                <a:moveTo>
                  <a:pt x="2875423" y="0"/>
                </a:moveTo>
                <a:lnTo>
                  <a:pt x="0" y="0"/>
                </a:lnTo>
                <a:lnTo>
                  <a:pt x="0" y="8304469"/>
                </a:lnTo>
                <a:lnTo>
                  <a:pt x="2875423" y="8304469"/>
                </a:lnTo>
                <a:lnTo>
                  <a:pt x="287542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4426758" y="2936215"/>
            <a:ext cx="10272111" cy="2367401"/>
          </a:xfrm>
          <a:custGeom>
            <a:avLst/>
            <a:gdLst/>
            <a:ahLst/>
            <a:cxnLst/>
            <a:rect r="r" b="b" t="t" l="l"/>
            <a:pathLst>
              <a:path h="2367401" w="10272111">
                <a:moveTo>
                  <a:pt x="0" y="0"/>
                </a:moveTo>
                <a:lnTo>
                  <a:pt x="10272111" y="0"/>
                </a:lnTo>
                <a:lnTo>
                  <a:pt x="10272111" y="2367400"/>
                </a:lnTo>
                <a:lnTo>
                  <a:pt x="0" y="2367400"/>
                </a:lnTo>
                <a:lnTo>
                  <a:pt x="0" y="0"/>
                </a:lnTo>
                <a:close/>
              </a:path>
            </a:pathLst>
          </a:custGeom>
          <a:blipFill>
            <a:blip r:embed="rId7"/>
            <a:stretch>
              <a:fillRect l="0" t="0" r="0" b="0"/>
            </a:stretch>
          </a:blipFill>
        </p:spPr>
      </p:sp>
      <p:sp>
        <p:nvSpPr>
          <p:cNvPr name="Freeform 27" id="27"/>
          <p:cNvSpPr/>
          <p:nvPr/>
        </p:nvSpPr>
        <p:spPr>
          <a:xfrm flipH="false" flipV="false" rot="0">
            <a:off x="4426758" y="6234609"/>
            <a:ext cx="10292293" cy="1911141"/>
          </a:xfrm>
          <a:custGeom>
            <a:avLst/>
            <a:gdLst/>
            <a:ahLst/>
            <a:cxnLst/>
            <a:rect r="r" b="b" t="t" l="l"/>
            <a:pathLst>
              <a:path h="1911141" w="10292293">
                <a:moveTo>
                  <a:pt x="0" y="0"/>
                </a:moveTo>
                <a:lnTo>
                  <a:pt x="10292293" y="0"/>
                </a:lnTo>
                <a:lnTo>
                  <a:pt x="10292293" y="1911141"/>
                </a:lnTo>
                <a:lnTo>
                  <a:pt x="0" y="1911141"/>
                </a:lnTo>
                <a:lnTo>
                  <a:pt x="0" y="0"/>
                </a:lnTo>
                <a:close/>
              </a:path>
            </a:pathLst>
          </a:custGeom>
          <a:blipFill>
            <a:blip r:embed="rId8"/>
            <a:stretch>
              <a:fillRect l="0" t="0" r="0" b="0"/>
            </a:stretch>
          </a:blipFill>
        </p:spPr>
      </p:sp>
      <p:sp>
        <p:nvSpPr>
          <p:cNvPr name="TextBox 28" id="28"/>
          <p:cNvSpPr txBox="true"/>
          <p:nvPr/>
        </p:nvSpPr>
        <p:spPr>
          <a:xfrm rot="0">
            <a:off x="4426758" y="2480920"/>
            <a:ext cx="10272111" cy="843915"/>
          </a:xfrm>
          <a:prstGeom prst="rect">
            <a:avLst/>
          </a:prstGeom>
        </p:spPr>
        <p:txBody>
          <a:bodyPr anchor="t" rtlCol="false" tIns="0" lIns="0" bIns="0" rIns="0">
            <a:spAutoFit/>
          </a:bodyPr>
          <a:lstStyle/>
          <a:p>
            <a:pPr algn="ctr">
              <a:lnSpc>
                <a:spcPts val="3359"/>
              </a:lnSpc>
            </a:pPr>
            <a:r>
              <a:rPr lang="en-US" sz="2400" b="true">
                <a:solidFill>
                  <a:srgbClr val="000000"/>
                </a:solidFill>
                <a:latin typeface="Poppins Bold"/>
                <a:ea typeface="Poppins Bold"/>
                <a:cs typeface="Poppins Bold"/>
                <a:sym typeface="Poppins Bold"/>
              </a:rPr>
              <a:t>Details Transaction Table </a:t>
            </a:r>
          </a:p>
          <a:p>
            <a:pPr algn="ctr">
              <a:lnSpc>
                <a:spcPts val="3359"/>
              </a:lnSpc>
              <a:spcBef>
                <a:spcPct val="0"/>
              </a:spcBef>
            </a:pPr>
          </a:p>
        </p:txBody>
      </p:sp>
      <p:sp>
        <p:nvSpPr>
          <p:cNvPr name="TextBox 29" id="29"/>
          <p:cNvSpPr txBox="true"/>
          <p:nvPr/>
        </p:nvSpPr>
        <p:spPr>
          <a:xfrm rot="0">
            <a:off x="4426758" y="5779314"/>
            <a:ext cx="10272111" cy="843915"/>
          </a:xfrm>
          <a:prstGeom prst="rect">
            <a:avLst/>
          </a:prstGeom>
        </p:spPr>
        <p:txBody>
          <a:bodyPr anchor="t" rtlCol="false" tIns="0" lIns="0" bIns="0" rIns="0">
            <a:spAutoFit/>
          </a:bodyPr>
          <a:lstStyle/>
          <a:p>
            <a:pPr algn="ctr">
              <a:lnSpc>
                <a:spcPts val="3359"/>
              </a:lnSpc>
            </a:pPr>
            <a:r>
              <a:rPr lang="en-US" sz="2400" b="true">
                <a:solidFill>
                  <a:srgbClr val="000000"/>
                </a:solidFill>
                <a:latin typeface="Poppins Bold"/>
                <a:ea typeface="Poppins Bold"/>
                <a:cs typeface="Poppins Bold"/>
                <a:sym typeface="Poppins Bold"/>
              </a:rPr>
              <a:t>Suppliers Table</a:t>
            </a:r>
          </a:p>
          <a:p>
            <a:pPr algn="ctr">
              <a:lnSpc>
                <a:spcPts val="335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639581" y="1792967"/>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983802" y="2630934"/>
            <a:ext cx="10320397" cy="2914921"/>
          </a:xfrm>
          <a:custGeom>
            <a:avLst/>
            <a:gdLst/>
            <a:ahLst/>
            <a:cxnLst/>
            <a:rect r="r" b="b" t="t" l="l"/>
            <a:pathLst>
              <a:path h="2914921" w="10320397">
                <a:moveTo>
                  <a:pt x="0" y="0"/>
                </a:moveTo>
                <a:lnTo>
                  <a:pt x="10320396" y="0"/>
                </a:lnTo>
                <a:lnTo>
                  <a:pt x="10320396" y="2914921"/>
                </a:lnTo>
                <a:lnTo>
                  <a:pt x="0" y="2914921"/>
                </a:lnTo>
                <a:lnTo>
                  <a:pt x="0" y="0"/>
                </a:lnTo>
                <a:close/>
              </a:path>
            </a:pathLst>
          </a:custGeom>
          <a:blipFill>
            <a:blip r:embed="rId7"/>
            <a:stretch>
              <a:fillRect l="0" t="0" r="0" b="0"/>
            </a:stretch>
          </a:blipFill>
        </p:spPr>
      </p:sp>
      <p:sp>
        <p:nvSpPr>
          <p:cNvPr name="Freeform 27" id="27"/>
          <p:cNvSpPr/>
          <p:nvPr/>
        </p:nvSpPr>
        <p:spPr>
          <a:xfrm flipH="false" flipV="false" rot="0">
            <a:off x="3983802" y="6548801"/>
            <a:ext cx="10344346" cy="2068869"/>
          </a:xfrm>
          <a:custGeom>
            <a:avLst/>
            <a:gdLst/>
            <a:ahLst/>
            <a:cxnLst/>
            <a:rect r="r" b="b" t="t" l="l"/>
            <a:pathLst>
              <a:path h="2068869" w="10344346">
                <a:moveTo>
                  <a:pt x="0" y="0"/>
                </a:moveTo>
                <a:lnTo>
                  <a:pt x="10344345" y="0"/>
                </a:lnTo>
                <a:lnTo>
                  <a:pt x="10344345" y="2068869"/>
                </a:lnTo>
                <a:lnTo>
                  <a:pt x="0" y="2068869"/>
                </a:lnTo>
                <a:lnTo>
                  <a:pt x="0" y="0"/>
                </a:lnTo>
                <a:close/>
              </a:path>
            </a:pathLst>
          </a:custGeom>
          <a:blipFill>
            <a:blip r:embed="rId8"/>
            <a:stretch>
              <a:fillRect l="0" t="0" r="0" b="0"/>
            </a:stretch>
          </a:blipFill>
        </p:spPr>
      </p:sp>
      <p:sp>
        <p:nvSpPr>
          <p:cNvPr name="TextBox 28" id="28"/>
          <p:cNvSpPr txBox="true"/>
          <p:nvPr/>
        </p:nvSpPr>
        <p:spPr>
          <a:xfrm rot="0">
            <a:off x="7659835" y="1726292"/>
            <a:ext cx="2992279" cy="1263015"/>
          </a:xfrm>
          <a:prstGeom prst="rect">
            <a:avLst/>
          </a:prstGeom>
        </p:spPr>
        <p:txBody>
          <a:bodyPr anchor="t" rtlCol="false" tIns="0" lIns="0" bIns="0" rIns="0">
            <a:spAutoFit/>
          </a:bodyPr>
          <a:lstStyle/>
          <a:p>
            <a:pPr algn="ctr">
              <a:lnSpc>
                <a:spcPts val="3359"/>
              </a:lnSpc>
            </a:pPr>
          </a:p>
          <a:p>
            <a:pPr algn="ctr">
              <a:lnSpc>
                <a:spcPts val="3359"/>
              </a:lnSpc>
            </a:pPr>
            <a:r>
              <a:rPr lang="en-US" sz="2400" b="true">
                <a:solidFill>
                  <a:srgbClr val="000000"/>
                </a:solidFill>
                <a:latin typeface="Poppins Bold"/>
                <a:ea typeface="Poppins Bold"/>
                <a:cs typeface="Poppins Bold"/>
                <a:sym typeface="Poppins Bold"/>
              </a:rPr>
              <a:t>Reservations Table</a:t>
            </a:r>
          </a:p>
          <a:p>
            <a:pPr algn="ctr">
              <a:lnSpc>
                <a:spcPts val="3359"/>
              </a:lnSpc>
              <a:spcBef>
                <a:spcPct val="0"/>
              </a:spcBef>
            </a:pPr>
          </a:p>
        </p:txBody>
      </p:sp>
      <p:sp>
        <p:nvSpPr>
          <p:cNvPr name="TextBox 29" id="29"/>
          <p:cNvSpPr txBox="true"/>
          <p:nvPr/>
        </p:nvSpPr>
        <p:spPr>
          <a:xfrm rot="0">
            <a:off x="8573701" y="5650877"/>
            <a:ext cx="1978223" cy="1263015"/>
          </a:xfrm>
          <a:prstGeom prst="rect">
            <a:avLst/>
          </a:prstGeom>
        </p:spPr>
        <p:txBody>
          <a:bodyPr anchor="t" rtlCol="false" tIns="0" lIns="0" bIns="0" rIns="0">
            <a:spAutoFit/>
          </a:bodyPr>
          <a:lstStyle/>
          <a:p>
            <a:pPr algn="ctr">
              <a:lnSpc>
                <a:spcPts val="3359"/>
              </a:lnSpc>
            </a:pPr>
          </a:p>
          <a:p>
            <a:pPr algn="ctr">
              <a:lnSpc>
                <a:spcPts val="3359"/>
              </a:lnSpc>
            </a:pPr>
            <a:r>
              <a:rPr lang="en-US" sz="2400" b="true">
                <a:solidFill>
                  <a:srgbClr val="000000"/>
                </a:solidFill>
                <a:latin typeface="Poppins Bold"/>
                <a:ea typeface="Poppins Bold"/>
                <a:cs typeface="Poppins Bold"/>
                <a:sym typeface="Poppins Bold"/>
              </a:rPr>
              <a:t>Tables Table</a:t>
            </a:r>
          </a:p>
          <a:p>
            <a:pPr algn="ctr">
              <a:lnSpc>
                <a:spcPts val="335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60618" y="3109836"/>
            <a:ext cx="11166763" cy="4832056"/>
          </a:xfrm>
          <a:custGeom>
            <a:avLst/>
            <a:gdLst/>
            <a:ahLst/>
            <a:cxnLst/>
            <a:rect r="r" b="b" t="t" l="l"/>
            <a:pathLst>
              <a:path h="4832056" w="11166763">
                <a:moveTo>
                  <a:pt x="0" y="0"/>
                </a:moveTo>
                <a:lnTo>
                  <a:pt x="11166764" y="0"/>
                </a:lnTo>
                <a:lnTo>
                  <a:pt x="11166764" y="4832056"/>
                </a:lnTo>
                <a:lnTo>
                  <a:pt x="0" y="4832056"/>
                </a:lnTo>
                <a:lnTo>
                  <a:pt x="0" y="0"/>
                </a:lnTo>
                <a:close/>
              </a:path>
            </a:pathLst>
          </a:custGeom>
          <a:blipFill>
            <a:blip r:embed="rId7"/>
            <a:stretch>
              <a:fillRect l="0" t="0" r="0" b="0"/>
            </a:stretch>
          </a:blipFill>
        </p:spPr>
      </p:sp>
      <p:sp>
        <p:nvSpPr>
          <p:cNvPr name="TextBox 27" id="27"/>
          <p:cNvSpPr txBox="true"/>
          <p:nvPr/>
        </p:nvSpPr>
        <p:spPr>
          <a:xfrm rot="0">
            <a:off x="197811" y="339090"/>
            <a:ext cx="12329420" cy="1236345"/>
          </a:xfrm>
          <a:prstGeom prst="rect">
            <a:avLst/>
          </a:prstGeom>
        </p:spPr>
        <p:txBody>
          <a:bodyPr anchor="t" rtlCol="false" tIns="0" lIns="0" bIns="0" rIns="0">
            <a:spAutoFit/>
          </a:bodyPr>
          <a:lstStyle/>
          <a:p>
            <a:pPr algn="ctr">
              <a:lnSpc>
                <a:spcPts val="10080"/>
              </a:lnSpc>
            </a:pPr>
            <a:r>
              <a:rPr lang="en-US" b="true" sz="7200">
                <a:solidFill>
                  <a:srgbClr val="000000"/>
                </a:solidFill>
                <a:latin typeface="One Little Font Bold"/>
                <a:ea typeface="One Little Font Bold"/>
                <a:cs typeface="One Little Font Bold"/>
                <a:sym typeface="One Little Font Bold"/>
              </a:rPr>
              <a:t>VALIDATION PERFORM</a:t>
            </a:r>
          </a:p>
        </p:txBody>
      </p:sp>
      <p:sp>
        <p:nvSpPr>
          <p:cNvPr name="TextBox 28" id="28"/>
          <p:cNvSpPr txBox="true"/>
          <p:nvPr/>
        </p:nvSpPr>
        <p:spPr>
          <a:xfrm rot="0">
            <a:off x="3398103" y="2704071"/>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CAFE TABLE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3398103" y="3521142"/>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CABANG TABLE </a:t>
            </a:r>
          </a:p>
        </p:txBody>
      </p:sp>
      <p:sp>
        <p:nvSpPr>
          <p:cNvPr name="Freeform 27" id="27"/>
          <p:cNvSpPr/>
          <p:nvPr/>
        </p:nvSpPr>
        <p:spPr>
          <a:xfrm flipH="false" flipV="false" rot="0">
            <a:off x="3562249" y="3926907"/>
            <a:ext cx="11163501" cy="3436058"/>
          </a:xfrm>
          <a:custGeom>
            <a:avLst/>
            <a:gdLst/>
            <a:ahLst/>
            <a:cxnLst/>
            <a:rect r="r" b="b" t="t" l="l"/>
            <a:pathLst>
              <a:path h="3436058" w="11163501">
                <a:moveTo>
                  <a:pt x="0" y="0"/>
                </a:moveTo>
                <a:lnTo>
                  <a:pt x="11163502" y="0"/>
                </a:lnTo>
                <a:lnTo>
                  <a:pt x="11163502" y="3436057"/>
                </a:lnTo>
                <a:lnTo>
                  <a:pt x="0" y="3436057"/>
                </a:lnTo>
                <a:lnTo>
                  <a:pt x="0" y="0"/>
                </a:lnTo>
                <a:close/>
              </a:path>
            </a:pathLst>
          </a:custGeom>
          <a:blipFill>
            <a:blip r:embed="rId7"/>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60618" y="3954097"/>
            <a:ext cx="11166763" cy="3403064"/>
          </a:xfrm>
          <a:custGeom>
            <a:avLst/>
            <a:gdLst/>
            <a:ahLst/>
            <a:cxnLst/>
            <a:rect r="r" b="b" t="t" l="l"/>
            <a:pathLst>
              <a:path h="3403064" w="11166763">
                <a:moveTo>
                  <a:pt x="0" y="0"/>
                </a:moveTo>
                <a:lnTo>
                  <a:pt x="11166764" y="0"/>
                </a:lnTo>
                <a:lnTo>
                  <a:pt x="11166764" y="3403063"/>
                </a:lnTo>
                <a:lnTo>
                  <a:pt x="0" y="3403063"/>
                </a:lnTo>
                <a:lnTo>
                  <a:pt x="0" y="0"/>
                </a:lnTo>
                <a:close/>
              </a:path>
            </a:pathLst>
          </a:custGeom>
          <a:blipFill>
            <a:blip r:embed="rId7"/>
            <a:stretch>
              <a:fillRect l="0" t="0" r="0" b="0"/>
            </a:stretch>
          </a:blipFill>
        </p:spPr>
      </p:sp>
      <p:sp>
        <p:nvSpPr>
          <p:cNvPr name="TextBox 27" id="27"/>
          <p:cNvSpPr txBox="true"/>
          <p:nvPr/>
        </p:nvSpPr>
        <p:spPr>
          <a:xfrm rot="0">
            <a:off x="2979290" y="3522345"/>
            <a:ext cx="12329420" cy="1621155"/>
          </a:xfrm>
          <a:prstGeom prst="rect">
            <a:avLst/>
          </a:prstGeom>
        </p:spPr>
        <p:txBody>
          <a:bodyPr anchor="t" rtlCol="false" tIns="0" lIns="0" bIns="0" rIns="0">
            <a:spAutoFit/>
          </a:bodyPr>
          <a:lstStyle/>
          <a:p>
            <a:pPr algn="ctr">
              <a:lnSpc>
                <a:spcPts val="3359"/>
              </a:lnSpc>
            </a:pPr>
            <a:r>
              <a:rPr lang="en-US" sz="2400" b="true">
                <a:solidFill>
                  <a:srgbClr val="000000"/>
                </a:solidFill>
                <a:latin typeface="One Little Font Bold"/>
                <a:ea typeface="One Little Font Bold"/>
                <a:cs typeface="One Little Font Bold"/>
                <a:sym typeface="One Little Font Bold"/>
              </a:rPr>
              <a:t>MENU TABLE</a:t>
            </a:r>
          </a:p>
          <a:p>
            <a:pPr algn="ctr">
              <a:lnSpc>
                <a:spcPts val="1008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52484" y="4088395"/>
            <a:ext cx="11183033" cy="3356375"/>
          </a:xfrm>
          <a:custGeom>
            <a:avLst/>
            <a:gdLst/>
            <a:ahLst/>
            <a:cxnLst/>
            <a:rect r="r" b="b" t="t" l="l"/>
            <a:pathLst>
              <a:path h="3356375" w="11183033">
                <a:moveTo>
                  <a:pt x="0" y="0"/>
                </a:moveTo>
                <a:lnTo>
                  <a:pt x="11183032" y="0"/>
                </a:lnTo>
                <a:lnTo>
                  <a:pt x="11183032" y="3356375"/>
                </a:lnTo>
                <a:lnTo>
                  <a:pt x="0" y="3356375"/>
                </a:lnTo>
                <a:lnTo>
                  <a:pt x="0" y="0"/>
                </a:lnTo>
                <a:close/>
              </a:path>
            </a:pathLst>
          </a:custGeom>
          <a:blipFill>
            <a:blip r:embed="rId7"/>
            <a:stretch>
              <a:fillRect l="0" t="0" r="0" b="0"/>
            </a:stretch>
          </a:blipFill>
        </p:spPr>
      </p:sp>
      <p:sp>
        <p:nvSpPr>
          <p:cNvPr name="TextBox 27" id="27"/>
          <p:cNvSpPr txBox="true"/>
          <p:nvPr/>
        </p:nvSpPr>
        <p:spPr>
          <a:xfrm rot="0">
            <a:off x="3162228" y="3682630"/>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CUSTOMERS TABLE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2979290" y="3682630"/>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TRANSACTIONS TABLE</a:t>
            </a:r>
          </a:p>
        </p:txBody>
      </p:sp>
      <p:sp>
        <p:nvSpPr>
          <p:cNvPr name="Freeform 27" id="27"/>
          <p:cNvSpPr/>
          <p:nvPr/>
        </p:nvSpPr>
        <p:spPr>
          <a:xfrm flipH="false" flipV="false" rot="0">
            <a:off x="3539541" y="4088395"/>
            <a:ext cx="11208917" cy="2965783"/>
          </a:xfrm>
          <a:custGeom>
            <a:avLst/>
            <a:gdLst/>
            <a:ahLst/>
            <a:cxnLst/>
            <a:rect r="r" b="b" t="t" l="l"/>
            <a:pathLst>
              <a:path h="2965783" w="11208917">
                <a:moveTo>
                  <a:pt x="0" y="0"/>
                </a:moveTo>
                <a:lnTo>
                  <a:pt x="11208918" y="0"/>
                </a:lnTo>
                <a:lnTo>
                  <a:pt x="11208918" y="2965783"/>
                </a:lnTo>
                <a:lnTo>
                  <a:pt x="0" y="2965783"/>
                </a:lnTo>
                <a:lnTo>
                  <a:pt x="0" y="0"/>
                </a:lnTo>
                <a:close/>
              </a:path>
            </a:pathLst>
          </a:custGeom>
          <a:blipFill>
            <a:blip r:embed="rId7"/>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34711" y="4282842"/>
            <a:ext cx="11218578" cy="2927846"/>
          </a:xfrm>
          <a:custGeom>
            <a:avLst/>
            <a:gdLst/>
            <a:ahLst/>
            <a:cxnLst/>
            <a:rect r="r" b="b" t="t" l="l"/>
            <a:pathLst>
              <a:path h="2927846" w="11218578">
                <a:moveTo>
                  <a:pt x="0" y="0"/>
                </a:moveTo>
                <a:lnTo>
                  <a:pt x="11218578" y="0"/>
                </a:lnTo>
                <a:lnTo>
                  <a:pt x="11218578" y="2927846"/>
                </a:lnTo>
                <a:lnTo>
                  <a:pt x="0" y="2927846"/>
                </a:lnTo>
                <a:lnTo>
                  <a:pt x="0" y="0"/>
                </a:lnTo>
                <a:close/>
              </a:path>
            </a:pathLst>
          </a:custGeom>
          <a:blipFill>
            <a:blip r:embed="rId7"/>
            <a:stretch>
              <a:fillRect l="0" t="0" r="0" b="0"/>
            </a:stretch>
          </a:blipFill>
        </p:spPr>
      </p:sp>
      <p:sp>
        <p:nvSpPr>
          <p:cNvPr name="TextBox 27" id="27"/>
          <p:cNvSpPr txBox="true"/>
          <p:nvPr/>
        </p:nvSpPr>
        <p:spPr>
          <a:xfrm rot="0">
            <a:off x="2979290" y="3833758"/>
            <a:ext cx="12329420" cy="1621155"/>
          </a:xfrm>
          <a:prstGeom prst="rect">
            <a:avLst/>
          </a:prstGeom>
        </p:spPr>
        <p:txBody>
          <a:bodyPr anchor="t" rtlCol="false" tIns="0" lIns="0" bIns="0" rIns="0">
            <a:spAutoFit/>
          </a:bodyPr>
          <a:lstStyle/>
          <a:p>
            <a:pPr algn="ctr">
              <a:lnSpc>
                <a:spcPts val="3359"/>
              </a:lnSpc>
            </a:pPr>
            <a:r>
              <a:rPr lang="en-US" sz="2400" b="true">
                <a:solidFill>
                  <a:srgbClr val="000000"/>
                </a:solidFill>
                <a:latin typeface="One Little Font Bold"/>
                <a:ea typeface="One Little Font Bold"/>
                <a:cs typeface="One Little Font Bold"/>
                <a:sym typeface="One Little Font Bold"/>
              </a:rPr>
              <a:t>TRANSACTIONS DETAILS TABLE</a:t>
            </a:r>
          </a:p>
          <a:p>
            <a:pPr algn="ctr">
              <a:lnSpc>
                <a:spcPts val="1008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37930" y="4567329"/>
            <a:ext cx="11212140" cy="2265666"/>
          </a:xfrm>
          <a:custGeom>
            <a:avLst/>
            <a:gdLst/>
            <a:ahLst/>
            <a:cxnLst/>
            <a:rect r="r" b="b" t="t" l="l"/>
            <a:pathLst>
              <a:path h="2265666" w="11212140">
                <a:moveTo>
                  <a:pt x="0" y="0"/>
                </a:moveTo>
                <a:lnTo>
                  <a:pt x="11212140" y="0"/>
                </a:lnTo>
                <a:lnTo>
                  <a:pt x="11212140" y="2265665"/>
                </a:lnTo>
                <a:lnTo>
                  <a:pt x="0" y="2265665"/>
                </a:lnTo>
                <a:lnTo>
                  <a:pt x="0" y="0"/>
                </a:lnTo>
                <a:close/>
              </a:path>
            </a:pathLst>
          </a:custGeom>
          <a:blipFill>
            <a:blip r:embed="rId7"/>
            <a:stretch>
              <a:fillRect l="0" t="0" r="0" b="0"/>
            </a:stretch>
          </a:blipFill>
        </p:spPr>
      </p:sp>
      <p:sp>
        <p:nvSpPr>
          <p:cNvPr name="TextBox 27" id="27"/>
          <p:cNvSpPr txBox="true"/>
          <p:nvPr/>
        </p:nvSpPr>
        <p:spPr>
          <a:xfrm rot="0">
            <a:off x="3398103" y="4161564"/>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SUPPLIERS TABLE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36320" y="4088395"/>
            <a:ext cx="11215360" cy="2930793"/>
          </a:xfrm>
          <a:custGeom>
            <a:avLst/>
            <a:gdLst/>
            <a:ahLst/>
            <a:cxnLst/>
            <a:rect r="r" b="b" t="t" l="l"/>
            <a:pathLst>
              <a:path h="2930793" w="11215360">
                <a:moveTo>
                  <a:pt x="0" y="0"/>
                </a:moveTo>
                <a:lnTo>
                  <a:pt x="11215360" y="0"/>
                </a:lnTo>
                <a:lnTo>
                  <a:pt x="11215360" y="2930793"/>
                </a:lnTo>
                <a:lnTo>
                  <a:pt x="0" y="2930793"/>
                </a:lnTo>
                <a:lnTo>
                  <a:pt x="0" y="0"/>
                </a:lnTo>
                <a:close/>
              </a:path>
            </a:pathLst>
          </a:custGeom>
          <a:blipFill>
            <a:blip r:embed="rId7"/>
            <a:stretch>
              <a:fillRect l="0" t="0" r="0" b="0"/>
            </a:stretch>
          </a:blipFill>
        </p:spPr>
      </p:sp>
      <p:sp>
        <p:nvSpPr>
          <p:cNvPr name="TextBox 27" id="27"/>
          <p:cNvSpPr txBox="true"/>
          <p:nvPr/>
        </p:nvSpPr>
        <p:spPr>
          <a:xfrm rot="0">
            <a:off x="2979290" y="3682630"/>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STOK BARANG TABLE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47620" y="4088395"/>
            <a:ext cx="11192760" cy="2995452"/>
          </a:xfrm>
          <a:custGeom>
            <a:avLst/>
            <a:gdLst/>
            <a:ahLst/>
            <a:cxnLst/>
            <a:rect r="r" b="b" t="t" l="l"/>
            <a:pathLst>
              <a:path h="2995452" w="11192760">
                <a:moveTo>
                  <a:pt x="0" y="0"/>
                </a:moveTo>
                <a:lnTo>
                  <a:pt x="11192760" y="0"/>
                </a:lnTo>
                <a:lnTo>
                  <a:pt x="11192760" y="2995451"/>
                </a:lnTo>
                <a:lnTo>
                  <a:pt x="0" y="2995451"/>
                </a:lnTo>
                <a:lnTo>
                  <a:pt x="0" y="0"/>
                </a:lnTo>
                <a:close/>
              </a:path>
            </a:pathLst>
          </a:custGeom>
          <a:blipFill>
            <a:blip r:embed="rId7"/>
            <a:stretch>
              <a:fillRect l="0" t="0" r="0" b="0"/>
            </a:stretch>
          </a:blipFill>
        </p:spPr>
      </p:sp>
      <p:sp>
        <p:nvSpPr>
          <p:cNvPr name="TextBox 27" id="27"/>
          <p:cNvSpPr txBox="true"/>
          <p:nvPr/>
        </p:nvSpPr>
        <p:spPr>
          <a:xfrm rot="0">
            <a:off x="2979290" y="3682630"/>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CUSTOMERS TABLE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6921541">
            <a:off x="-858245" y="3153647"/>
            <a:ext cx="3944786" cy="2258390"/>
          </a:xfrm>
          <a:custGeom>
            <a:avLst/>
            <a:gdLst/>
            <a:ahLst/>
            <a:cxnLst/>
            <a:rect r="r" b="b" t="t" l="l"/>
            <a:pathLst>
              <a:path h="2258390" w="3944786">
                <a:moveTo>
                  <a:pt x="0" y="0"/>
                </a:moveTo>
                <a:lnTo>
                  <a:pt x="3944786" y="0"/>
                </a:lnTo>
                <a:lnTo>
                  <a:pt x="3944786" y="2258390"/>
                </a:lnTo>
                <a:lnTo>
                  <a:pt x="0" y="22583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2399013">
            <a:off x="15954296" y="225446"/>
            <a:ext cx="2781323" cy="7725898"/>
          </a:xfrm>
          <a:custGeom>
            <a:avLst/>
            <a:gdLst/>
            <a:ahLst/>
            <a:cxnLst/>
            <a:rect r="r" b="b" t="t" l="l"/>
            <a:pathLst>
              <a:path h="7725898" w="2781323">
                <a:moveTo>
                  <a:pt x="0" y="0"/>
                </a:moveTo>
                <a:lnTo>
                  <a:pt x="2781324" y="0"/>
                </a:lnTo>
                <a:lnTo>
                  <a:pt x="2781324" y="7725898"/>
                </a:lnTo>
                <a:lnTo>
                  <a:pt x="0" y="772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3550861" y="4282842"/>
            <a:ext cx="11186278" cy="2606227"/>
          </a:xfrm>
          <a:custGeom>
            <a:avLst/>
            <a:gdLst/>
            <a:ahLst/>
            <a:cxnLst/>
            <a:rect r="r" b="b" t="t" l="l"/>
            <a:pathLst>
              <a:path h="2606227" w="11186278">
                <a:moveTo>
                  <a:pt x="0" y="0"/>
                </a:moveTo>
                <a:lnTo>
                  <a:pt x="11186278" y="0"/>
                </a:lnTo>
                <a:lnTo>
                  <a:pt x="11186278" y="2606227"/>
                </a:lnTo>
                <a:lnTo>
                  <a:pt x="0" y="2606227"/>
                </a:lnTo>
                <a:lnTo>
                  <a:pt x="0" y="0"/>
                </a:lnTo>
                <a:close/>
              </a:path>
            </a:pathLst>
          </a:custGeom>
          <a:blipFill>
            <a:blip r:embed="rId7"/>
            <a:stretch>
              <a:fillRect l="0" t="0" r="0" b="0"/>
            </a:stretch>
          </a:blipFill>
        </p:spPr>
      </p:sp>
      <p:sp>
        <p:nvSpPr>
          <p:cNvPr name="TextBox 27" id="27"/>
          <p:cNvSpPr txBox="true"/>
          <p:nvPr/>
        </p:nvSpPr>
        <p:spPr>
          <a:xfrm rot="0">
            <a:off x="2979290" y="3877077"/>
            <a:ext cx="12329420" cy="405765"/>
          </a:xfrm>
          <a:prstGeom prst="rect">
            <a:avLst/>
          </a:prstGeom>
        </p:spPr>
        <p:txBody>
          <a:bodyPr anchor="t" rtlCol="false" tIns="0" lIns="0" bIns="0" rIns="0">
            <a:spAutoFit/>
          </a:bodyPr>
          <a:lstStyle/>
          <a:p>
            <a:pPr algn="ctr">
              <a:lnSpc>
                <a:spcPts val="3359"/>
              </a:lnSpc>
            </a:pPr>
            <a:r>
              <a:rPr lang="en-US" b="true" sz="2400">
                <a:solidFill>
                  <a:srgbClr val="000000"/>
                </a:solidFill>
                <a:latin typeface="One Little Font Bold"/>
                <a:ea typeface="One Little Font Bold"/>
                <a:cs typeface="One Little Font Bold"/>
                <a:sym typeface="One Little Font Bold"/>
              </a:rPr>
              <a:t>DETAIL SUPPLIER TABLE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10134833" y="717287"/>
            <a:ext cx="7900541" cy="1439601"/>
            <a:chOff x="0" y="0"/>
            <a:chExt cx="2174897" cy="396300"/>
          </a:xfrm>
        </p:grpSpPr>
        <p:sp>
          <p:nvSpPr>
            <p:cNvPr name="Freeform 13" id="13"/>
            <p:cNvSpPr/>
            <p:nvPr/>
          </p:nvSpPr>
          <p:spPr>
            <a:xfrm flipH="false" flipV="false" rot="0">
              <a:off x="0" y="0"/>
              <a:ext cx="2174897" cy="396300"/>
            </a:xfrm>
            <a:custGeom>
              <a:avLst/>
              <a:gdLst/>
              <a:ahLst/>
              <a:cxnLst/>
              <a:rect r="r" b="b" t="t" l="l"/>
              <a:pathLst>
                <a:path h="396300" w="2174897">
                  <a:moveTo>
                    <a:pt x="48996" y="0"/>
                  </a:moveTo>
                  <a:lnTo>
                    <a:pt x="2125901" y="0"/>
                  </a:lnTo>
                  <a:cubicBezTo>
                    <a:pt x="2152961" y="0"/>
                    <a:pt x="2174897" y="21936"/>
                    <a:pt x="2174897" y="48996"/>
                  </a:cubicBezTo>
                  <a:lnTo>
                    <a:pt x="2174897" y="347304"/>
                  </a:lnTo>
                  <a:cubicBezTo>
                    <a:pt x="2174897" y="360298"/>
                    <a:pt x="2169735" y="372761"/>
                    <a:pt x="2160546" y="381949"/>
                  </a:cubicBezTo>
                  <a:cubicBezTo>
                    <a:pt x="2151358" y="391138"/>
                    <a:pt x="2138896" y="396300"/>
                    <a:pt x="2125901" y="396300"/>
                  </a:cubicBezTo>
                  <a:lnTo>
                    <a:pt x="48996" y="396300"/>
                  </a:lnTo>
                  <a:cubicBezTo>
                    <a:pt x="21936" y="396300"/>
                    <a:pt x="0" y="374364"/>
                    <a:pt x="0" y="347304"/>
                  </a:cubicBezTo>
                  <a:lnTo>
                    <a:pt x="0" y="48996"/>
                  </a:lnTo>
                  <a:cubicBezTo>
                    <a:pt x="0" y="21936"/>
                    <a:pt x="21936" y="0"/>
                    <a:pt x="48996" y="0"/>
                  </a:cubicBezTo>
                  <a:close/>
                </a:path>
              </a:pathLst>
            </a:custGeom>
            <a:solidFill>
              <a:srgbClr val="6D8B74"/>
            </a:solidFill>
          </p:spPr>
        </p:sp>
        <p:sp>
          <p:nvSpPr>
            <p:cNvPr name="TextBox 14" id="14"/>
            <p:cNvSpPr txBox="true"/>
            <p:nvPr/>
          </p:nvSpPr>
          <p:spPr>
            <a:xfrm>
              <a:off x="0" y="-66675"/>
              <a:ext cx="217489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1198337" cy="1439601"/>
            <a:chOff x="0" y="0"/>
            <a:chExt cx="329884" cy="396300"/>
          </a:xfrm>
        </p:grpSpPr>
        <p:sp>
          <p:nvSpPr>
            <p:cNvPr name="Freeform 16" id="16"/>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7" id="17"/>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9777818" y="4853184"/>
            <a:ext cx="8024132" cy="1458882"/>
            <a:chOff x="0" y="0"/>
            <a:chExt cx="2208920" cy="401608"/>
          </a:xfrm>
        </p:grpSpPr>
        <p:sp>
          <p:nvSpPr>
            <p:cNvPr name="Freeform 19" id="19"/>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20" id="20"/>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9998138" y="4719585"/>
            <a:ext cx="7937410" cy="1333683"/>
            <a:chOff x="0" y="0"/>
            <a:chExt cx="2185047" cy="367142"/>
          </a:xfrm>
        </p:grpSpPr>
        <p:sp>
          <p:nvSpPr>
            <p:cNvPr name="Freeform 22" id="22"/>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3" id="23"/>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1420046">
            <a:off x="9370128" y="193654"/>
            <a:ext cx="1256020" cy="1389787"/>
          </a:xfrm>
          <a:custGeom>
            <a:avLst/>
            <a:gdLst/>
            <a:ahLst/>
            <a:cxnLst/>
            <a:rect r="r" b="b" t="t" l="l"/>
            <a:pathLst>
              <a:path h="1389787" w="1256020">
                <a:moveTo>
                  <a:pt x="0" y="0"/>
                </a:moveTo>
                <a:lnTo>
                  <a:pt x="1256020" y="0"/>
                </a:lnTo>
                <a:lnTo>
                  <a:pt x="1256020" y="1389787"/>
                </a:lnTo>
                <a:lnTo>
                  <a:pt x="0" y="1389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1422000">
            <a:off x="-386496" y="7691547"/>
            <a:ext cx="3156965" cy="3493183"/>
          </a:xfrm>
          <a:custGeom>
            <a:avLst/>
            <a:gdLst/>
            <a:ahLst/>
            <a:cxnLst/>
            <a:rect r="r" b="b" t="t" l="l"/>
            <a:pathLst>
              <a:path h="3493183" w="3156965">
                <a:moveTo>
                  <a:pt x="3156965" y="0"/>
                </a:moveTo>
                <a:lnTo>
                  <a:pt x="0" y="0"/>
                </a:lnTo>
                <a:lnTo>
                  <a:pt x="0" y="3493183"/>
                </a:lnTo>
                <a:lnTo>
                  <a:pt x="3156965" y="3493183"/>
                </a:lnTo>
                <a:lnTo>
                  <a:pt x="315696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0" y="0"/>
            <a:ext cx="9200129" cy="10287000"/>
          </a:xfrm>
          <a:custGeom>
            <a:avLst/>
            <a:gdLst/>
            <a:ahLst/>
            <a:cxnLst/>
            <a:rect r="r" b="b" t="t" l="l"/>
            <a:pathLst>
              <a:path h="10287000" w="9200129">
                <a:moveTo>
                  <a:pt x="0" y="0"/>
                </a:moveTo>
                <a:lnTo>
                  <a:pt x="9200129" y="0"/>
                </a:lnTo>
                <a:lnTo>
                  <a:pt x="9200129" y="10287000"/>
                </a:lnTo>
                <a:lnTo>
                  <a:pt x="0" y="10287000"/>
                </a:lnTo>
                <a:lnTo>
                  <a:pt x="0" y="0"/>
                </a:lnTo>
                <a:close/>
              </a:path>
            </a:pathLst>
          </a:custGeom>
          <a:blipFill>
            <a:blip r:embed="rId5"/>
            <a:stretch>
              <a:fillRect l="0" t="0" r="0" b="0"/>
            </a:stretch>
          </a:blipFill>
        </p:spPr>
      </p:sp>
      <p:sp>
        <p:nvSpPr>
          <p:cNvPr name="Freeform 27" id="27"/>
          <p:cNvSpPr/>
          <p:nvPr/>
        </p:nvSpPr>
        <p:spPr>
          <a:xfrm flipH="false" flipV="false" rot="0">
            <a:off x="7253958" y="8615964"/>
            <a:ext cx="11034042" cy="1644349"/>
          </a:xfrm>
          <a:custGeom>
            <a:avLst/>
            <a:gdLst/>
            <a:ahLst/>
            <a:cxnLst/>
            <a:rect r="r" b="b" t="t" l="l"/>
            <a:pathLst>
              <a:path h="1644349" w="11034042">
                <a:moveTo>
                  <a:pt x="0" y="0"/>
                </a:moveTo>
                <a:lnTo>
                  <a:pt x="11034042" y="0"/>
                </a:lnTo>
                <a:lnTo>
                  <a:pt x="11034042" y="1644349"/>
                </a:lnTo>
                <a:lnTo>
                  <a:pt x="0" y="1644349"/>
                </a:lnTo>
                <a:lnTo>
                  <a:pt x="0" y="0"/>
                </a:lnTo>
                <a:close/>
              </a:path>
            </a:pathLst>
          </a:custGeom>
          <a:blipFill>
            <a:blip r:embed="rId6"/>
            <a:stretch>
              <a:fillRect l="0" t="0" r="0" b="0"/>
            </a:stretch>
          </a:blipFill>
        </p:spPr>
      </p:sp>
      <p:sp>
        <p:nvSpPr>
          <p:cNvPr name="TextBox 28" id="28"/>
          <p:cNvSpPr txBox="true"/>
          <p:nvPr/>
        </p:nvSpPr>
        <p:spPr>
          <a:xfrm rot="0">
            <a:off x="7111284" y="920543"/>
            <a:ext cx="13947639"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STORED PROCEDURE</a:t>
            </a:r>
          </a:p>
        </p:txBody>
      </p:sp>
      <p:sp>
        <p:nvSpPr>
          <p:cNvPr name="TextBox 29" id="29"/>
          <p:cNvSpPr txBox="true"/>
          <p:nvPr/>
        </p:nvSpPr>
        <p:spPr>
          <a:xfrm rot="0">
            <a:off x="6993023" y="5057775"/>
            <a:ext cx="13947639" cy="2057400"/>
          </a:xfrm>
          <a:prstGeom prst="rect">
            <a:avLst/>
          </a:prstGeom>
        </p:spPr>
        <p:txBody>
          <a:bodyPr anchor="t" rtlCol="false" tIns="0" lIns="0" bIns="0" rIns="0">
            <a:spAutoFit/>
          </a:bodyPr>
          <a:lstStyle/>
          <a:p>
            <a:pPr algn="ctr">
              <a:lnSpc>
                <a:spcPts val="6719"/>
              </a:lnSpc>
            </a:pPr>
            <a:r>
              <a:rPr lang="en-US" sz="4800" b="true">
                <a:solidFill>
                  <a:srgbClr val="000000"/>
                </a:solidFill>
                <a:latin typeface="One Little Font Bold"/>
                <a:ea typeface="One Little Font Bold"/>
                <a:cs typeface="One Little Font Bold"/>
                <a:sym typeface="One Little Font Bold"/>
              </a:rPr>
              <a:t>Procedure AddNewTransaction</a:t>
            </a:r>
          </a:p>
          <a:p>
            <a:pPr algn="ctr" marL="0" indent="0" lvl="0">
              <a:lnSpc>
                <a:spcPts val="10080"/>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9777818" y="4853184"/>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9998138" y="4719585"/>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12026895" y="698368"/>
            <a:ext cx="3525977" cy="3901496"/>
          </a:xfrm>
          <a:custGeom>
            <a:avLst/>
            <a:gdLst/>
            <a:ahLst/>
            <a:cxnLst/>
            <a:rect r="r" b="b" t="t" l="l"/>
            <a:pathLst>
              <a:path h="3901496" w="3525977">
                <a:moveTo>
                  <a:pt x="0" y="0"/>
                </a:moveTo>
                <a:lnTo>
                  <a:pt x="3525977" y="0"/>
                </a:lnTo>
                <a:lnTo>
                  <a:pt x="3525977"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true" flipV="false" rot="1422000">
            <a:off x="-386496" y="7691547"/>
            <a:ext cx="3156965" cy="3493183"/>
          </a:xfrm>
          <a:custGeom>
            <a:avLst/>
            <a:gdLst/>
            <a:ahLst/>
            <a:cxnLst/>
            <a:rect r="r" b="b" t="t" l="l"/>
            <a:pathLst>
              <a:path h="3493183" w="3156965">
                <a:moveTo>
                  <a:pt x="3156965" y="0"/>
                </a:moveTo>
                <a:lnTo>
                  <a:pt x="0" y="0"/>
                </a:lnTo>
                <a:lnTo>
                  <a:pt x="0" y="3493183"/>
                </a:lnTo>
                <a:lnTo>
                  <a:pt x="3156965" y="3493183"/>
                </a:lnTo>
                <a:lnTo>
                  <a:pt x="315696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0" y="0"/>
            <a:ext cx="9484468" cy="10287000"/>
          </a:xfrm>
          <a:custGeom>
            <a:avLst/>
            <a:gdLst/>
            <a:ahLst/>
            <a:cxnLst/>
            <a:rect r="r" b="b" t="t" l="l"/>
            <a:pathLst>
              <a:path h="10287000" w="9484468">
                <a:moveTo>
                  <a:pt x="0" y="0"/>
                </a:moveTo>
                <a:lnTo>
                  <a:pt x="9484468" y="0"/>
                </a:lnTo>
                <a:lnTo>
                  <a:pt x="9484468" y="10287000"/>
                </a:lnTo>
                <a:lnTo>
                  <a:pt x="0" y="10287000"/>
                </a:lnTo>
                <a:lnTo>
                  <a:pt x="0" y="0"/>
                </a:lnTo>
                <a:close/>
              </a:path>
            </a:pathLst>
          </a:custGeom>
          <a:blipFill>
            <a:blip r:embed="rId5"/>
            <a:stretch>
              <a:fillRect l="0" t="0" r="0" b="0"/>
            </a:stretch>
          </a:blipFill>
        </p:spPr>
      </p:sp>
      <p:sp>
        <p:nvSpPr>
          <p:cNvPr name="TextBox 24" id="24"/>
          <p:cNvSpPr txBox="true"/>
          <p:nvPr/>
        </p:nvSpPr>
        <p:spPr>
          <a:xfrm rot="0">
            <a:off x="6993023" y="5057775"/>
            <a:ext cx="13947639" cy="2057400"/>
          </a:xfrm>
          <a:prstGeom prst="rect">
            <a:avLst/>
          </a:prstGeom>
        </p:spPr>
        <p:txBody>
          <a:bodyPr anchor="t" rtlCol="false" tIns="0" lIns="0" bIns="0" rIns="0">
            <a:spAutoFit/>
          </a:bodyPr>
          <a:lstStyle/>
          <a:p>
            <a:pPr algn="ctr">
              <a:lnSpc>
                <a:spcPts val="6719"/>
              </a:lnSpc>
            </a:pPr>
            <a:r>
              <a:rPr lang="en-US" sz="4800" b="true">
                <a:solidFill>
                  <a:srgbClr val="000000"/>
                </a:solidFill>
                <a:latin typeface="One Little Font Bold"/>
                <a:ea typeface="One Little Font Bold"/>
                <a:cs typeface="One Little Font Bold"/>
                <a:sym typeface="One Little Font Bold"/>
              </a:rPr>
              <a:t>Procedure AddStockToCabang</a:t>
            </a:r>
          </a:p>
          <a:p>
            <a:pPr algn="ctr" marL="0" indent="0" lvl="0">
              <a:lnSpc>
                <a:spcPts val="1008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1420046">
            <a:off x="12026895" y="698368"/>
            <a:ext cx="3525977" cy="3901496"/>
          </a:xfrm>
          <a:custGeom>
            <a:avLst/>
            <a:gdLst/>
            <a:ahLst/>
            <a:cxnLst/>
            <a:rect r="r" b="b" t="t" l="l"/>
            <a:pathLst>
              <a:path h="3901496" w="3525977">
                <a:moveTo>
                  <a:pt x="0" y="0"/>
                </a:moveTo>
                <a:lnTo>
                  <a:pt x="3525977" y="0"/>
                </a:lnTo>
                <a:lnTo>
                  <a:pt x="3525977"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true" flipV="false" rot="1422000">
            <a:off x="-386496" y="7691547"/>
            <a:ext cx="3156965" cy="3493183"/>
          </a:xfrm>
          <a:custGeom>
            <a:avLst/>
            <a:gdLst/>
            <a:ahLst/>
            <a:cxnLst/>
            <a:rect r="r" b="b" t="t" l="l"/>
            <a:pathLst>
              <a:path h="3493183" w="3156965">
                <a:moveTo>
                  <a:pt x="3156965" y="0"/>
                </a:moveTo>
                <a:lnTo>
                  <a:pt x="0" y="0"/>
                </a:lnTo>
                <a:lnTo>
                  <a:pt x="0" y="3493183"/>
                </a:lnTo>
                <a:lnTo>
                  <a:pt x="3156965" y="3493183"/>
                </a:lnTo>
                <a:lnTo>
                  <a:pt x="315696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196327" y="3986743"/>
            <a:ext cx="10332387" cy="2313514"/>
          </a:xfrm>
          <a:custGeom>
            <a:avLst/>
            <a:gdLst/>
            <a:ahLst/>
            <a:cxnLst/>
            <a:rect r="r" b="b" t="t" l="l"/>
            <a:pathLst>
              <a:path h="2313514" w="10332387">
                <a:moveTo>
                  <a:pt x="0" y="0"/>
                </a:moveTo>
                <a:lnTo>
                  <a:pt x="10332387" y="0"/>
                </a:lnTo>
                <a:lnTo>
                  <a:pt x="10332387" y="2313514"/>
                </a:lnTo>
                <a:lnTo>
                  <a:pt x="0" y="2313514"/>
                </a:lnTo>
                <a:lnTo>
                  <a:pt x="0" y="0"/>
                </a:lnTo>
                <a:close/>
              </a:path>
            </a:pathLst>
          </a:custGeom>
          <a:blipFill>
            <a:blip r:embed="rId5"/>
            <a:stretch>
              <a:fillRect l="0" t="0" r="0" b="0"/>
            </a:stretch>
          </a:blipFill>
        </p:spPr>
      </p:sp>
      <p:sp>
        <p:nvSpPr>
          <p:cNvPr name="Freeform 18" id="18"/>
          <p:cNvSpPr/>
          <p:nvPr/>
        </p:nvSpPr>
        <p:spPr>
          <a:xfrm flipH="false" flipV="false" rot="0">
            <a:off x="6494090" y="8082692"/>
            <a:ext cx="10765210" cy="1175608"/>
          </a:xfrm>
          <a:custGeom>
            <a:avLst/>
            <a:gdLst/>
            <a:ahLst/>
            <a:cxnLst/>
            <a:rect r="r" b="b" t="t" l="l"/>
            <a:pathLst>
              <a:path h="1175608" w="10765210">
                <a:moveTo>
                  <a:pt x="0" y="0"/>
                </a:moveTo>
                <a:lnTo>
                  <a:pt x="10765210" y="0"/>
                </a:lnTo>
                <a:lnTo>
                  <a:pt x="10765210" y="1175608"/>
                </a:lnTo>
                <a:lnTo>
                  <a:pt x="0" y="1175608"/>
                </a:lnTo>
                <a:lnTo>
                  <a:pt x="0" y="0"/>
                </a:lnTo>
                <a:close/>
              </a:path>
            </a:pathLst>
          </a:custGeom>
          <a:blipFill>
            <a:blip r:embed="rId6"/>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9777818" y="4853184"/>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9998138" y="4719585"/>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12026895" y="698368"/>
            <a:ext cx="3525977" cy="3901496"/>
          </a:xfrm>
          <a:custGeom>
            <a:avLst/>
            <a:gdLst/>
            <a:ahLst/>
            <a:cxnLst/>
            <a:rect r="r" b="b" t="t" l="l"/>
            <a:pathLst>
              <a:path h="3901496" w="3525977">
                <a:moveTo>
                  <a:pt x="0" y="0"/>
                </a:moveTo>
                <a:lnTo>
                  <a:pt x="3525977" y="0"/>
                </a:lnTo>
                <a:lnTo>
                  <a:pt x="3525977"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0" y="3264633"/>
            <a:ext cx="9586288" cy="7022367"/>
          </a:xfrm>
          <a:custGeom>
            <a:avLst/>
            <a:gdLst/>
            <a:ahLst/>
            <a:cxnLst/>
            <a:rect r="r" b="b" t="t" l="l"/>
            <a:pathLst>
              <a:path h="7022367" w="9586288">
                <a:moveTo>
                  <a:pt x="0" y="0"/>
                </a:moveTo>
                <a:lnTo>
                  <a:pt x="9586288" y="0"/>
                </a:lnTo>
                <a:lnTo>
                  <a:pt x="9586288" y="7022367"/>
                </a:lnTo>
                <a:lnTo>
                  <a:pt x="0" y="7022367"/>
                </a:lnTo>
                <a:lnTo>
                  <a:pt x="0" y="0"/>
                </a:lnTo>
                <a:close/>
              </a:path>
            </a:pathLst>
          </a:custGeom>
          <a:blipFill>
            <a:blip r:embed="rId5"/>
            <a:stretch>
              <a:fillRect l="0" t="0" r="0" b="0"/>
            </a:stretch>
          </a:blipFill>
        </p:spPr>
      </p:sp>
      <p:sp>
        <p:nvSpPr>
          <p:cNvPr name="TextBox 23" id="23"/>
          <p:cNvSpPr txBox="true"/>
          <p:nvPr/>
        </p:nvSpPr>
        <p:spPr>
          <a:xfrm rot="0">
            <a:off x="6993023" y="5057775"/>
            <a:ext cx="13947639" cy="2057400"/>
          </a:xfrm>
          <a:prstGeom prst="rect">
            <a:avLst/>
          </a:prstGeom>
        </p:spPr>
        <p:txBody>
          <a:bodyPr anchor="t" rtlCol="false" tIns="0" lIns="0" bIns="0" rIns="0">
            <a:spAutoFit/>
          </a:bodyPr>
          <a:lstStyle/>
          <a:p>
            <a:pPr algn="ctr">
              <a:lnSpc>
                <a:spcPts val="6719"/>
              </a:lnSpc>
            </a:pPr>
            <a:r>
              <a:rPr lang="en-US" sz="4800" b="true">
                <a:solidFill>
                  <a:srgbClr val="000000"/>
                </a:solidFill>
                <a:latin typeface="One Little Font Bold"/>
                <a:ea typeface="One Little Font Bold"/>
                <a:cs typeface="One Little Font Bold"/>
                <a:sym typeface="One Little Font Bold"/>
              </a:rPr>
              <a:t>Procedure AddStockToCabang</a:t>
            </a:r>
          </a:p>
          <a:p>
            <a:pPr algn="ctr" marL="0" indent="0" lvl="0">
              <a:lnSpc>
                <a:spcPts val="10080"/>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9777818" y="4853184"/>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9998138" y="4719585"/>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12026895" y="698368"/>
            <a:ext cx="3525977" cy="3901496"/>
          </a:xfrm>
          <a:custGeom>
            <a:avLst/>
            <a:gdLst/>
            <a:ahLst/>
            <a:cxnLst/>
            <a:rect r="r" b="b" t="t" l="l"/>
            <a:pathLst>
              <a:path h="3901496" w="3525977">
                <a:moveTo>
                  <a:pt x="0" y="0"/>
                </a:moveTo>
                <a:lnTo>
                  <a:pt x="3525977" y="0"/>
                </a:lnTo>
                <a:lnTo>
                  <a:pt x="3525977"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1033669" y="2996755"/>
            <a:ext cx="8314844" cy="6261545"/>
          </a:xfrm>
          <a:custGeom>
            <a:avLst/>
            <a:gdLst/>
            <a:ahLst/>
            <a:cxnLst/>
            <a:rect r="r" b="b" t="t" l="l"/>
            <a:pathLst>
              <a:path h="6261545" w="8314844">
                <a:moveTo>
                  <a:pt x="0" y="0"/>
                </a:moveTo>
                <a:lnTo>
                  <a:pt x="8314843" y="0"/>
                </a:lnTo>
                <a:lnTo>
                  <a:pt x="8314843" y="6261545"/>
                </a:lnTo>
                <a:lnTo>
                  <a:pt x="0" y="6261545"/>
                </a:lnTo>
                <a:lnTo>
                  <a:pt x="0" y="0"/>
                </a:lnTo>
                <a:close/>
              </a:path>
            </a:pathLst>
          </a:custGeom>
          <a:blipFill>
            <a:blip r:embed="rId5"/>
            <a:stretch>
              <a:fillRect l="0" t="0" r="0" b="0"/>
            </a:stretch>
          </a:blipFill>
        </p:spPr>
      </p:sp>
      <p:sp>
        <p:nvSpPr>
          <p:cNvPr name="TextBox 23" id="23"/>
          <p:cNvSpPr txBox="true"/>
          <p:nvPr/>
        </p:nvSpPr>
        <p:spPr>
          <a:xfrm rot="0">
            <a:off x="6993023" y="5000625"/>
            <a:ext cx="13947639"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view</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9777818" y="4853184"/>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9998138" y="4719585"/>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12026895" y="698368"/>
            <a:ext cx="3525977" cy="3901496"/>
          </a:xfrm>
          <a:custGeom>
            <a:avLst/>
            <a:gdLst/>
            <a:ahLst/>
            <a:cxnLst/>
            <a:rect r="r" b="b" t="t" l="l"/>
            <a:pathLst>
              <a:path h="3901496" w="3525977">
                <a:moveTo>
                  <a:pt x="0" y="0"/>
                </a:moveTo>
                <a:lnTo>
                  <a:pt x="3525977" y="0"/>
                </a:lnTo>
                <a:lnTo>
                  <a:pt x="3525977"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259812" y="3237994"/>
            <a:ext cx="9518006" cy="5630546"/>
          </a:xfrm>
          <a:custGeom>
            <a:avLst/>
            <a:gdLst/>
            <a:ahLst/>
            <a:cxnLst/>
            <a:rect r="r" b="b" t="t" l="l"/>
            <a:pathLst>
              <a:path h="5630546" w="9518006">
                <a:moveTo>
                  <a:pt x="0" y="0"/>
                </a:moveTo>
                <a:lnTo>
                  <a:pt x="9518006" y="0"/>
                </a:lnTo>
                <a:lnTo>
                  <a:pt x="9518006" y="5630547"/>
                </a:lnTo>
                <a:lnTo>
                  <a:pt x="0" y="5630547"/>
                </a:lnTo>
                <a:lnTo>
                  <a:pt x="0" y="0"/>
                </a:lnTo>
                <a:close/>
              </a:path>
            </a:pathLst>
          </a:custGeom>
          <a:blipFill>
            <a:blip r:embed="rId5"/>
            <a:stretch>
              <a:fillRect l="0" t="0" r="0" b="0"/>
            </a:stretch>
          </a:blipFill>
        </p:spPr>
      </p:sp>
      <p:sp>
        <p:nvSpPr>
          <p:cNvPr name="TextBox 23" id="23"/>
          <p:cNvSpPr txBox="true"/>
          <p:nvPr/>
        </p:nvSpPr>
        <p:spPr>
          <a:xfrm rot="0">
            <a:off x="6993023" y="5000625"/>
            <a:ext cx="13947639"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fulltext menu</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4178153" y="7799418"/>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4398474" y="7665820"/>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6427231" y="3644603"/>
            <a:ext cx="3525977" cy="3901496"/>
          </a:xfrm>
          <a:custGeom>
            <a:avLst/>
            <a:gdLst/>
            <a:ahLst/>
            <a:cxnLst/>
            <a:rect r="r" b="b" t="t" l="l"/>
            <a:pathLst>
              <a:path h="3901496" w="3525977">
                <a:moveTo>
                  <a:pt x="0" y="0"/>
                </a:moveTo>
                <a:lnTo>
                  <a:pt x="3525976" y="0"/>
                </a:lnTo>
                <a:lnTo>
                  <a:pt x="3525976"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2976992" y="2523963"/>
            <a:ext cx="11301259" cy="4774782"/>
          </a:xfrm>
          <a:custGeom>
            <a:avLst/>
            <a:gdLst/>
            <a:ahLst/>
            <a:cxnLst/>
            <a:rect r="r" b="b" t="t" l="l"/>
            <a:pathLst>
              <a:path h="4774782" w="11301259">
                <a:moveTo>
                  <a:pt x="0" y="0"/>
                </a:moveTo>
                <a:lnTo>
                  <a:pt x="11301259" y="0"/>
                </a:lnTo>
                <a:lnTo>
                  <a:pt x="11301259" y="4774782"/>
                </a:lnTo>
                <a:lnTo>
                  <a:pt x="0" y="4774782"/>
                </a:lnTo>
                <a:lnTo>
                  <a:pt x="0" y="0"/>
                </a:lnTo>
                <a:close/>
              </a:path>
            </a:pathLst>
          </a:custGeom>
          <a:blipFill>
            <a:blip r:embed="rId5"/>
            <a:stretch>
              <a:fillRect l="0" t="0" r="0" b="0"/>
            </a:stretch>
          </a:blipFill>
        </p:spPr>
      </p:sp>
      <p:sp>
        <p:nvSpPr>
          <p:cNvPr name="TextBox 23" id="23"/>
          <p:cNvSpPr txBox="true"/>
          <p:nvPr/>
        </p:nvSpPr>
        <p:spPr>
          <a:xfrm rot="0">
            <a:off x="1393359" y="7946860"/>
            <a:ext cx="13947639" cy="1236345"/>
          </a:xfrm>
          <a:prstGeom prst="rect">
            <a:avLst/>
          </a:prstGeom>
        </p:spPr>
        <p:txBody>
          <a:bodyPr anchor="t" rtlCol="false" tIns="0" lIns="0" bIns="0" rIns="0">
            <a:spAutoFit/>
          </a:bodyPr>
          <a:lstStyle/>
          <a:p>
            <a:pPr algn="ctr" marL="0" indent="0" lvl="0">
              <a:lnSpc>
                <a:spcPts val="10080"/>
              </a:lnSpc>
              <a:spcBef>
                <a:spcPct val="0"/>
              </a:spcBef>
            </a:pPr>
            <a:r>
              <a:rPr lang="en-US" b="true" sz="7200">
                <a:solidFill>
                  <a:srgbClr val="000000"/>
                </a:solidFill>
                <a:latin typeface="One Little Font Bold"/>
                <a:ea typeface="One Little Font Bold"/>
                <a:cs typeface="One Little Font Bold"/>
                <a:sym typeface="One Little Font Bold"/>
              </a:rPr>
              <a:t>fulltext customer</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4178153" y="7799418"/>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4398474" y="7665820"/>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6427231" y="3644603"/>
            <a:ext cx="3525977" cy="3901496"/>
          </a:xfrm>
          <a:custGeom>
            <a:avLst/>
            <a:gdLst/>
            <a:ahLst/>
            <a:cxnLst/>
            <a:rect r="r" b="b" t="t" l="l"/>
            <a:pathLst>
              <a:path h="3901496" w="3525977">
                <a:moveTo>
                  <a:pt x="0" y="0"/>
                </a:moveTo>
                <a:lnTo>
                  <a:pt x="3525976" y="0"/>
                </a:lnTo>
                <a:lnTo>
                  <a:pt x="3525976"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2976992" y="1901390"/>
            <a:ext cx="11301259" cy="5438731"/>
          </a:xfrm>
          <a:custGeom>
            <a:avLst/>
            <a:gdLst/>
            <a:ahLst/>
            <a:cxnLst/>
            <a:rect r="r" b="b" t="t" l="l"/>
            <a:pathLst>
              <a:path h="5438731" w="11301259">
                <a:moveTo>
                  <a:pt x="0" y="0"/>
                </a:moveTo>
                <a:lnTo>
                  <a:pt x="11301259" y="0"/>
                </a:lnTo>
                <a:lnTo>
                  <a:pt x="11301259" y="5438731"/>
                </a:lnTo>
                <a:lnTo>
                  <a:pt x="0" y="5438731"/>
                </a:lnTo>
                <a:lnTo>
                  <a:pt x="0" y="0"/>
                </a:lnTo>
                <a:close/>
              </a:path>
            </a:pathLst>
          </a:custGeom>
          <a:blipFill>
            <a:blip r:embed="rId5"/>
            <a:stretch>
              <a:fillRect l="0" t="0" r="0" b="0"/>
            </a:stretch>
          </a:blipFill>
        </p:spPr>
      </p:sp>
      <p:sp>
        <p:nvSpPr>
          <p:cNvPr name="TextBox 23" id="23"/>
          <p:cNvSpPr txBox="true"/>
          <p:nvPr/>
        </p:nvSpPr>
        <p:spPr>
          <a:xfrm rot="0">
            <a:off x="4264444" y="8004010"/>
            <a:ext cx="8205470" cy="1479903"/>
          </a:xfrm>
          <a:prstGeom prst="rect">
            <a:avLst/>
          </a:prstGeom>
        </p:spPr>
        <p:txBody>
          <a:bodyPr anchor="t" rtlCol="false" tIns="0" lIns="0" bIns="0" rIns="0">
            <a:spAutoFit/>
          </a:bodyPr>
          <a:lstStyle/>
          <a:p>
            <a:pPr algn="ctr">
              <a:lnSpc>
                <a:spcPts val="5930"/>
              </a:lnSpc>
            </a:pPr>
            <a:r>
              <a:rPr lang="en-US" sz="4235" b="true">
                <a:solidFill>
                  <a:srgbClr val="000000"/>
                </a:solidFill>
                <a:latin typeface="One Little Font Bold"/>
                <a:ea typeface="One Little Font Bold"/>
                <a:cs typeface="One Little Font Bold"/>
                <a:sym typeface="One Little Font Bold"/>
              </a:rPr>
              <a:t>Trigger Update Stock After Order</a:t>
            </a:r>
          </a:p>
          <a:p>
            <a:pPr algn="ctr" marL="0" indent="0" lvl="0">
              <a:lnSpc>
                <a:spcPts val="5930"/>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4178153" y="7799418"/>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4398474" y="7665820"/>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6427231" y="3644603"/>
            <a:ext cx="3525977" cy="3901496"/>
          </a:xfrm>
          <a:custGeom>
            <a:avLst/>
            <a:gdLst/>
            <a:ahLst/>
            <a:cxnLst/>
            <a:rect r="r" b="b" t="t" l="l"/>
            <a:pathLst>
              <a:path h="3901496" w="3525977">
                <a:moveTo>
                  <a:pt x="0" y="0"/>
                </a:moveTo>
                <a:lnTo>
                  <a:pt x="3525976" y="0"/>
                </a:lnTo>
                <a:lnTo>
                  <a:pt x="3525976"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3493371" y="2305001"/>
            <a:ext cx="11301259" cy="5212706"/>
          </a:xfrm>
          <a:custGeom>
            <a:avLst/>
            <a:gdLst/>
            <a:ahLst/>
            <a:cxnLst/>
            <a:rect r="r" b="b" t="t" l="l"/>
            <a:pathLst>
              <a:path h="5212706" w="11301259">
                <a:moveTo>
                  <a:pt x="0" y="0"/>
                </a:moveTo>
                <a:lnTo>
                  <a:pt x="11301258" y="0"/>
                </a:lnTo>
                <a:lnTo>
                  <a:pt x="11301258" y="5212706"/>
                </a:lnTo>
                <a:lnTo>
                  <a:pt x="0" y="5212706"/>
                </a:lnTo>
                <a:lnTo>
                  <a:pt x="0" y="0"/>
                </a:lnTo>
                <a:close/>
              </a:path>
            </a:pathLst>
          </a:custGeom>
          <a:blipFill>
            <a:blip r:embed="rId5"/>
            <a:stretch>
              <a:fillRect l="0" t="0" r="0" b="0"/>
            </a:stretch>
          </a:blipFill>
        </p:spPr>
      </p:sp>
      <p:sp>
        <p:nvSpPr>
          <p:cNvPr name="TextBox 23" id="23"/>
          <p:cNvSpPr txBox="true"/>
          <p:nvPr/>
        </p:nvSpPr>
        <p:spPr>
          <a:xfrm rot="0">
            <a:off x="3449311" y="7994485"/>
            <a:ext cx="9481815" cy="1706289"/>
          </a:xfrm>
          <a:prstGeom prst="rect">
            <a:avLst/>
          </a:prstGeom>
        </p:spPr>
        <p:txBody>
          <a:bodyPr anchor="t" rtlCol="false" tIns="0" lIns="0" bIns="0" rIns="0">
            <a:spAutoFit/>
          </a:bodyPr>
          <a:lstStyle/>
          <a:p>
            <a:pPr algn="ctr">
              <a:lnSpc>
                <a:spcPts val="6852"/>
              </a:lnSpc>
            </a:pPr>
            <a:r>
              <a:rPr lang="en-US" sz="4894" b="true">
                <a:solidFill>
                  <a:srgbClr val="000000"/>
                </a:solidFill>
                <a:latin typeface="One Little Font Bold"/>
                <a:ea typeface="One Little Font Bold"/>
                <a:cs typeface="One Little Font Bold"/>
                <a:sym typeface="One Little Font Bold"/>
              </a:rPr>
              <a:t>Trigger Prevent Negative Stoc</a:t>
            </a:r>
          </a:p>
          <a:p>
            <a:pPr algn="ctr" marL="0" indent="0" lvl="0">
              <a:lnSpc>
                <a:spcPts val="6852"/>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4178153" y="7799418"/>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4398474" y="7665820"/>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6427231" y="3644603"/>
            <a:ext cx="3525977" cy="3901496"/>
          </a:xfrm>
          <a:custGeom>
            <a:avLst/>
            <a:gdLst/>
            <a:ahLst/>
            <a:cxnLst/>
            <a:rect r="r" b="b" t="t" l="l"/>
            <a:pathLst>
              <a:path h="3901496" w="3525977">
                <a:moveTo>
                  <a:pt x="0" y="0"/>
                </a:moveTo>
                <a:lnTo>
                  <a:pt x="3525976" y="0"/>
                </a:lnTo>
                <a:lnTo>
                  <a:pt x="3525976"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2882447" y="2552358"/>
            <a:ext cx="12926004" cy="4717991"/>
          </a:xfrm>
          <a:custGeom>
            <a:avLst/>
            <a:gdLst/>
            <a:ahLst/>
            <a:cxnLst/>
            <a:rect r="r" b="b" t="t" l="l"/>
            <a:pathLst>
              <a:path h="4717991" w="12926004">
                <a:moveTo>
                  <a:pt x="0" y="0"/>
                </a:moveTo>
                <a:lnTo>
                  <a:pt x="12926004" y="0"/>
                </a:lnTo>
                <a:lnTo>
                  <a:pt x="12926004" y="4717992"/>
                </a:lnTo>
                <a:lnTo>
                  <a:pt x="0" y="4717992"/>
                </a:lnTo>
                <a:lnTo>
                  <a:pt x="0" y="0"/>
                </a:lnTo>
                <a:close/>
              </a:path>
            </a:pathLst>
          </a:custGeom>
          <a:blipFill>
            <a:blip r:embed="rId5"/>
            <a:stretch>
              <a:fillRect l="0" t="0" r="0" b="0"/>
            </a:stretch>
          </a:blipFill>
        </p:spPr>
      </p:sp>
      <p:sp>
        <p:nvSpPr>
          <p:cNvPr name="TextBox 23" id="23"/>
          <p:cNvSpPr txBox="true"/>
          <p:nvPr/>
        </p:nvSpPr>
        <p:spPr>
          <a:xfrm rot="0">
            <a:off x="4314899" y="7943118"/>
            <a:ext cx="7750641" cy="693361"/>
          </a:xfrm>
          <a:prstGeom prst="rect">
            <a:avLst/>
          </a:prstGeom>
        </p:spPr>
        <p:txBody>
          <a:bodyPr anchor="t" rtlCol="false" tIns="0" lIns="0" bIns="0" rIns="0">
            <a:spAutoFit/>
          </a:bodyPr>
          <a:lstStyle/>
          <a:p>
            <a:pPr algn="ctr" marL="0" indent="0" lvl="0">
              <a:lnSpc>
                <a:spcPts val="5601"/>
              </a:lnSpc>
              <a:spcBef>
                <a:spcPct val="0"/>
              </a:spcBef>
            </a:pPr>
            <a:r>
              <a:rPr lang="en-US" b="true" sz="4001">
                <a:solidFill>
                  <a:srgbClr val="000000"/>
                </a:solidFill>
                <a:latin typeface="One Little Font Bold"/>
                <a:ea typeface="One Little Font Bold"/>
                <a:cs typeface="One Little Font Bold"/>
                <a:sym typeface="One Little Font Bold"/>
              </a:rPr>
              <a:t>Trigger Cascade Delete Cabang</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7429285" y="717287"/>
            <a:ext cx="1198337" cy="1439601"/>
            <a:chOff x="0" y="0"/>
            <a:chExt cx="329884" cy="396300"/>
          </a:xfrm>
        </p:grpSpPr>
        <p:sp>
          <p:nvSpPr>
            <p:cNvPr name="Freeform 13" id="13"/>
            <p:cNvSpPr/>
            <p:nvPr/>
          </p:nvSpPr>
          <p:spPr>
            <a:xfrm flipH="false" flipV="false" rot="0">
              <a:off x="0" y="0"/>
              <a:ext cx="329884" cy="396300"/>
            </a:xfrm>
            <a:custGeom>
              <a:avLst/>
              <a:gdLst/>
              <a:ahLst/>
              <a:cxnLst/>
              <a:rect r="r" b="b" t="t" l="l"/>
              <a:pathLst>
                <a:path h="396300" w="329884">
                  <a:moveTo>
                    <a:pt x="164942" y="0"/>
                  </a:moveTo>
                  <a:lnTo>
                    <a:pt x="164942" y="0"/>
                  </a:lnTo>
                  <a:cubicBezTo>
                    <a:pt x="256037" y="0"/>
                    <a:pt x="329884" y="73847"/>
                    <a:pt x="329884" y="164942"/>
                  </a:cubicBezTo>
                  <a:lnTo>
                    <a:pt x="329884" y="231358"/>
                  </a:lnTo>
                  <a:cubicBezTo>
                    <a:pt x="329884" y="275103"/>
                    <a:pt x="312506" y="317057"/>
                    <a:pt x="281573" y="347990"/>
                  </a:cubicBezTo>
                  <a:cubicBezTo>
                    <a:pt x="250641" y="378922"/>
                    <a:pt x="208687" y="396300"/>
                    <a:pt x="164942" y="396300"/>
                  </a:cubicBezTo>
                  <a:lnTo>
                    <a:pt x="164942" y="396300"/>
                  </a:lnTo>
                  <a:cubicBezTo>
                    <a:pt x="121197" y="396300"/>
                    <a:pt x="79243" y="378922"/>
                    <a:pt x="48310" y="347990"/>
                  </a:cubicBezTo>
                  <a:cubicBezTo>
                    <a:pt x="17378" y="317057"/>
                    <a:pt x="0" y="275103"/>
                    <a:pt x="0" y="231358"/>
                  </a:cubicBezTo>
                  <a:lnTo>
                    <a:pt x="0" y="164942"/>
                  </a:lnTo>
                  <a:cubicBezTo>
                    <a:pt x="0" y="121197"/>
                    <a:pt x="17378" y="79243"/>
                    <a:pt x="48310" y="48310"/>
                  </a:cubicBezTo>
                  <a:cubicBezTo>
                    <a:pt x="79243" y="17378"/>
                    <a:pt x="121197" y="0"/>
                    <a:pt x="164942" y="0"/>
                  </a:cubicBezTo>
                  <a:close/>
                </a:path>
              </a:pathLst>
            </a:custGeom>
            <a:solidFill>
              <a:srgbClr val="FBF2E7"/>
            </a:solidFill>
          </p:spPr>
        </p:sp>
        <p:sp>
          <p:nvSpPr>
            <p:cNvPr name="TextBox 14" id="14"/>
            <p:cNvSpPr txBox="true"/>
            <p:nvPr/>
          </p:nvSpPr>
          <p:spPr>
            <a:xfrm>
              <a:off x="0" y="-66675"/>
              <a:ext cx="329884"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4178153" y="7799418"/>
            <a:ext cx="8024132" cy="1458882"/>
            <a:chOff x="0" y="0"/>
            <a:chExt cx="2208920" cy="401608"/>
          </a:xfrm>
        </p:grpSpPr>
        <p:sp>
          <p:nvSpPr>
            <p:cNvPr name="Freeform 16" id="16"/>
            <p:cNvSpPr/>
            <p:nvPr/>
          </p:nvSpPr>
          <p:spPr>
            <a:xfrm flipH="false" flipV="false" rot="0">
              <a:off x="0" y="0"/>
              <a:ext cx="2208920" cy="401608"/>
            </a:xfrm>
            <a:custGeom>
              <a:avLst/>
              <a:gdLst/>
              <a:ahLst/>
              <a:cxnLst/>
              <a:rect r="r" b="b" t="t" l="l"/>
              <a:pathLst>
                <a:path h="401608" w="2208920">
                  <a:moveTo>
                    <a:pt x="48241" y="0"/>
                  </a:moveTo>
                  <a:lnTo>
                    <a:pt x="2160678" y="0"/>
                  </a:lnTo>
                  <a:cubicBezTo>
                    <a:pt x="2173473" y="0"/>
                    <a:pt x="2185743" y="5083"/>
                    <a:pt x="2194790" y="14130"/>
                  </a:cubicBezTo>
                  <a:cubicBezTo>
                    <a:pt x="2203837" y="23177"/>
                    <a:pt x="2208920" y="35447"/>
                    <a:pt x="2208920" y="48241"/>
                  </a:cubicBezTo>
                  <a:lnTo>
                    <a:pt x="2208920" y="353366"/>
                  </a:lnTo>
                  <a:cubicBezTo>
                    <a:pt x="2208920" y="366161"/>
                    <a:pt x="2203837" y="378431"/>
                    <a:pt x="2194790" y="387478"/>
                  </a:cubicBezTo>
                  <a:cubicBezTo>
                    <a:pt x="2185743" y="396525"/>
                    <a:pt x="2173473" y="401608"/>
                    <a:pt x="2160678" y="401608"/>
                  </a:cubicBezTo>
                  <a:lnTo>
                    <a:pt x="48241" y="401608"/>
                  </a:lnTo>
                  <a:cubicBezTo>
                    <a:pt x="35447" y="401608"/>
                    <a:pt x="23177" y="396525"/>
                    <a:pt x="14130" y="387478"/>
                  </a:cubicBezTo>
                  <a:cubicBezTo>
                    <a:pt x="5083" y="378431"/>
                    <a:pt x="0" y="366161"/>
                    <a:pt x="0" y="353366"/>
                  </a:cubicBezTo>
                  <a:lnTo>
                    <a:pt x="0" y="48241"/>
                  </a:lnTo>
                  <a:cubicBezTo>
                    <a:pt x="0" y="35447"/>
                    <a:pt x="5083" y="23177"/>
                    <a:pt x="14130" y="14130"/>
                  </a:cubicBezTo>
                  <a:cubicBezTo>
                    <a:pt x="23177" y="5083"/>
                    <a:pt x="35447" y="0"/>
                    <a:pt x="48241" y="0"/>
                  </a:cubicBezTo>
                  <a:close/>
                </a:path>
              </a:pathLst>
            </a:custGeom>
            <a:solidFill>
              <a:srgbClr val="DFA39B"/>
            </a:solidFill>
          </p:spPr>
        </p:sp>
        <p:sp>
          <p:nvSpPr>
            <p:cNvPr name="TextBox 17" id="17"/>
            <p:cNvSpPr txBox="true"/>
            <p:nvPr/>
          </p:nvSpPr>
          <p:spPr>
            <a:xfrm>
              <a:off x="0" y="-66675"/>
              <a:ext cx="2208920" cy="46828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4398474" y="7665820"/>
            <a:ext cx="7937410" cy="1333683"/>
            <a:chOff x="0" y="0"/>
            <a:chExt cx="2185047" cy="367142"/>
          </a:xfrm>
        </p:grpSpPr>
        <p:sp>
          <p:nvSpPr>
            <p:cNvPr name="Freeform 19" id="19"/>
            <p:cNvSpPr/>
            <p:nvPr/>
          </p:nvSpPr>
          <p:spPr>
            <a:xfrm flipH="false" flipV="false" rot="0">
              <a:off x="0" y="0"/>
              <a:ext cx="2185046" cy="367142"/>
            </a:xfrm>
            <a:custGeom>
              <a:avLst/>
              <a:gdLst/>
              <a:ahLst/>
              <a:cxnLst/>
              <a:rect r="r" b="b" t="t" l="l"/>
              <a:pathLst>
                <a:path h="367142" w="2185046">
                  <a:moveTo>
                    <a:pt x="48769" y="0"/>
                  </a:moveTo>
                  <a:lnTo>
                    <a:pt x="2136278" y="0"/>
                  </a:lnTo>
                  <a:cubicBezTo>
                    <a:pt x="2149212" y="0"/>
                    <a:pt x="2161617" y="5138"/>
                    <a:pt x="2170762" y="14284"/>
                  </a:cubicBezTo>
                  <a:cubicBezTo>
                    <a:pt x="2179908" y="23430"/>
                    <a:pt x="2185046" y="35834"/>
                    <a:pt x="2185046" y="48769"/>
                  </a:cubicBezTo>
                  <a:lnTo>
                    <a:pt x="2185046" y="318374"/>
                  </a:lnTo>
                  <a:cubicBezTo>
                    <a:pt x="2185046" y="331308"/>
                    <a:pt x="2179908" y="343712"/>
                    <a:pt x="2170762" y="352858"/>
                  </a:cubicBezTo>
                  <a:cubicBezTo>
                    <a:pt x="2161617" y="362004"/>
                    <a:pt x="2149212" y="367142"/>
                    <a:pt x="2136278" y="367142"/>
                  </a:cubicBezTo>
                  <a:lnTo>
                    <a:pt x="48769" y="367142"/>
                  </a:lnTo>
                  <a:cubicBezTo>
                    <a:pt x="35834" y="367142"/>
                    <a:pt x="23430" y="362004"/>
                    <a:pt x="14284" y="352858"/>
                  </a:cubicBezTo>
                  <a:cubicBezTo>
                    <a:pt x="5138" y="343712"/>
                    <a:pt x="0" y="331308"/>
                    <a:pt x="0" y="318374"/>
                  </a:cubicBezTo>
                  <a:lnTo>
                    <a:pt x="0" y="48769"/>
                  </a:lnTo>
                  <a:cubicBezTo>
                    <a:pt x="0" y="35834"/>
                    <a:pt x="5138" y="23430"/>
                    <a:pt x="14284" y="14284"/>
                  </a:cubicBezTo>
                  <a:cubicBezTo>
                    <a:pt x="23430" y="5138"/>
                    <a:pt x="35834" y="0"/>
                    <a:pt x="48769" y="0"/>
                  </a:cubicBezTo>
                  <a:close/>
                </a:path>
              </a:pathLst>
            </a:custGeom>
            <a:solidFill>
              <a:srgbClr val="FBF2E7"/>
            </a:solidFill>
          </p:spPr>
        </p:sp>
        <p:sp>
          <p:nvSpPr>
            <p:cNvPr name="TextBox 20" id="20"/>
            <p:cNvSpPr txBox="true"/>
            <p:nvPr/>
          </p:nvSpPr>
          <p:spPr>
            <a:xfrm>
              <a:off x="0" y="-66675"/>
              <a:ext cx="2185047" cy="433817"/>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1420046">
            <a:off x="6427231" y="3644603"/>
            <a:ext cx="3525977" cy="3901496"/>
          </a:xfrm>
          <a:custGeom>
            <a:avLst/>
            <a:gdLst/>
            <a:ahLst/>
            <a:cxnLst/>
            <a:rect r="r" b="b" t="t" l="l"/>
            <a:pathLst>
              <a:path h="3901496" w="3525977">
                <a:moveTo>
                  <a:pt x="0" y="0"/>
                </a:moveTo>
                <a:lnTo>
                  <a:pt x="3525976" y="0"/>
                </a:lnTo>
                <a:lnTo>
                  <a:pt x="3525976" y="3901496"/>
                </a:lnTo>
                <a:lnTo>
                  <a:pt x="0" y="3901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2746002" y="2320165"/>
            <a:ext cx="12795995" cy="5182378"/>
          </a:xfrm>
          <a:custGeom>
            <a:avLst/>
            <a:gdLst/>
            <a:ahLst/>
            <a:cxnLst/>
            <a:rect r="r" b="b" t="t" l="l"/>
            <a:pathLst>
              <a:path h="5182378" w="12795995">
                <a:moveTo>
                  <a:pt x="0" y="0"/>
                </a:moveTo>
                <a:lnTo>
                  <a:pt x="12795996" y="0"/>
                </a:lnTo>
                <a:lnTo>
                  <a:pt x="12795996" y="5182378"/>
                </a:lnTo>
                <a:lnTo>
                  <a:pt x="0" y="5182378"/>
                </a:lnTo>
                <a:lnTo>
                  <a:pt x="0" y="0"/>
                </a:lnTo>
                <a:close/>
              </a:path>
            </a:pathLst>
          </a:custGeom>
          <a:blipFill>
            <a:blip r:embed="rId5"/>
            <a:stretch>
              <a:fillRect l="0" t="0" r="0" b="0"/>
            </a:stretch>
          </a:blipFill>
        </p:spPr>
      </p:sp>
      <p:sp>
        <p:nvSpPr>
          <p:cNvPr name="TextBox 23" id="23"/>
          <p:cNvSpPr txBox="true"/>
          <p:nvPr/>
        </p:nvSpPr>
        <p:spPr>
          <a:xfrm rot="0">
            <a:off x="4491858" y="7943118"/>
            <a:ext cx="7750641" cy="693361"/>
          </a:xfrm>
          <a:prstGeom prst="rect">
            <a:avLst/>
          </a:prstGeom>
        </p:spPr>
        <p:txBody>
          <a:bodyPr anchor="t" rtlCol="false" tIns="0" lIns="0" bIns="0" rIns="0">
            <a:spAutoFit/>
          </a:bodyPr>
          <a:lstStyle/>
          <a:p>
            <a:pPr algn="ctr" marL="0" indent="0" lvl="0">
              <a:lnSpc>
                <a:spcPts val="5601"/>
              </a:lnSpc>
              <a:spcBef>
                <a:spcPct val="0"/>
              </a:spcBef>
            </a:pPr>
            <a:r>
              <a:rPr lang="en-US" b="true" sz="4001">
                <a:solidFill>
                  <a:srgbClr val="000000"/>
                </a:solidFill>
                <a:latin typeface="One Little Font Bold"/>
                <a:ea typeface="One Little Font Bold"/>
                <a:cs typeface="One Little Font Bold"/>
                <a:sym typeface="One Little Font Bold"/>
              </a:rPr>
              <a:t>Trigger Restore Stock On Order Cancel</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183866" y="2348243"/>
            <a:ext cx="2847168" cy="8967457"/>
          </a:xfrm>
          <a:custGeom>
            <a:avLst/>
            <a:gdLst/>
            <a:ahLst/>
            <a:cxnLst/>
            <a:rect r="r" b="b" t="t" l="l"/>
            <a:pathLst>
              <a:path h="8967457" w="2847168">
                <a:moveTo>
                  <a:pt x="0" y="0"/>
                </a:moveTo>
                <a:lnTo>
                  <a:pt x="2847167" y="0"/>
                </a:lnTo>
                <a:lnTo>
                  <a:pt x="2847167" y="8967457"/>
                </a:lnTo>
                <a:lnTo>
                  <a:pt x="0" y="89674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836954">
            <a:off x="15364044" y="305354"/>
            <a:ext cx="2925014" cy="3201110"/>
          </a:xfrm>
          <a:custGeom>
            <a:avLst/>
            <a:gdLst/>
            <a:ahLst/>
            <a:cxnLst/>
            <a:rect r="r" b="b" t="t" l="l"/>
            <a:pathLst>
              <a:path h="3201110" w="2925014">
                <a:moveTo>
                  <a:pt x="2925014" y="0"/>
                </a:moveTo>
                <a:lnTo>
                  <a:pt x="0" y="0"/>
                </a:lnTo>
                <a:lnTo>
                  <a:pt x="0" y="3201110"/>
                </a:lnTo>
                <a:lnTo>
                  <a:pt x="2925014" y="3201110"/>
                </a:lnTo>
                <a:lnTo>
                  <a:pt x="292501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3300467">
            <a:off x="15374991" y="1952525"/>
            <a:ext cx="2925014" cy="3201110"/>
          </a:xfrm>
          <a:custGeom>
            <a:avLst/>
            <a:gdLst/>
            <a:ahLst/>
            <a:cxnLst/>
            <a:rect r="r" b="b" t="t" l="l"/>
            <a:pathLst>
              <a:path h="3201110" w="2925014">
                <a:moveTo>
                  <a:pt x="2925014" y="0"/>
                </a:moveTo>
                <a:lnTo>
                  <a:pt x="0" y="0"/>
                </a:lnTo>
                <a:lnTo>
                  <a:pt x="0" y="3201110"/>
                </a:lnTo>
                <a:lnTo>
                  <a:pt x="2925014" y="3201110"/>
                </a:lnTo>
                <a:lnTo>
                  <a:pt x="292501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7" id="27"/>
          <p:cNvGrpSpPr/>
          <p:nvPr/>
        </p:nvGrpSpPr>
        <p:grpSpPr>
          <a:xfrm rot="0">
            <a:off x="3554341" y="2528809"/>
            <a:ext cx="8999637" cy="1587104"/>
            <a:chOff x="0" y="0"/>
            <a:chExt cx="2370275" cy="418003"/>
          </a:xfrm>
        </p:grpSpPr>
        <p:sp>
          <p:nvSpPr>
            <p:cNvPr name="Freeform 28" id="28"/>
            <p:cNvSpPr/>
            <p:nvPr/>
          </p:nvSpPr>
          <p:spPr>
            <a:xfrm flipH="false" flipV="false" rot="0">
              <a:off x="0" y="0"/>
              <a:ext cx="2370275" cy="418003"/>
            </a:xfrm>
            <a:custGeom>
              <a:avLst/>
              <a:gdLst/>
              <a:ahLst/>
              <a:cxnLst/>
              <a:rect r="r" b="b" t="t" l="l"/>
              <a:pathLst>
                <a:path h="418003" w="2370275">
                  <a:moveTo>
                    <a:pt x="43012" y="0"/>
                  </a:moveTo>
                  <a:lnTo>
                    <a:pt x="2327263" y="0"/>
                  </a:lnTo>
                  <a:cubicBezTo>
                    <a:pt x="2351018" y="0"/>
                    <a:pt x="2370275" y="19257"/>
                    <a:pt x="2370275" y="43012"/>
                  </a:cubicBezTo>
                  <a:lnTo>
                    <a:pt x="2370275" y="374990"/>
                  </a:lnTo>
                  <a:cubicBezTo>
                    <a:pt x="2370275" y="398745"/>
                    <a:pt x="2351018" y="418003"/>
                    <a:pt x="2327263" y="418003"/>
                  </a:cubicBezTo>
                  <a:lnTo>
                    <a:pt x="43012" y="418003"/>
                  </a:lnTo>
                  <a:cubicBezTo>
                    <a:pt x="31605" y="418003"/>
                    <a:pt x="20664" y="413471"/>
                    <a:pt x="12598" y="405405"/>
                  </a:cubicBezTo>
                  <a:cubicBezTo>
                    <a:pt x="4532" y="397338"/>
                    <a:pt x="0" y="386398"/>
                    <a:pt x="0" y="374990"/>
                  </a:cubicBezTo>
                  <a:lnTo>
                    <a:pt x="0" y="43012"/>
                  </a:lnTo>
                  <a:cubicBezTo>
                    <a:pt x="0" y="31605"/>
                    <a:pt x="4532" y="20664"/>
                    <a:pt x="12598" y="12598"/>
                  </a:cubicBezTo>
                  <a:cubicBezTo>
                    <a:pt x="20664" y="4532"/>
                    <a:pt x="31605" y="0"/>
                    <a:pt x="43012" y="0"/>
                  </a:cubicBezTo>
                  <a:close/>
                </a:path>
              </a:pathLst>
            </a:custGeom>
            <a:solidFill>
              <a:srgbClr val="FAD3C4"/>
            </a:solidFill>
            <a:ln w="38100" cap="rnd">
              <a:solidFill>
                <a:srgbClr val="000000"/>
              </a:solidFill>
              <a:prstDash val="dash"/>
              <a:round/>
            </a:ln>
          </p:spPr>
        </p:sp>
        <p:sp>
          <p:nvSpPr>
            <p:cNvPr name="TextBox 29" id="29"/>
            <p:cNvSpPr txBox="true"/>
            <p:nvPr/>
          </p:nvSpPr>
          <p:spPr>
            <a:xfrm>
              <a:off x="0" y="-66675"/>
              <a:ext cx="2370275" cy="484678"/>
            </a:xfrm>
            <a:prstGeom prst="rect">
              <a:avLst/>
            </a:prstGeom>
          </p:spPr>
          <p:txBody>
            <a:bodyPr anchor="ctr" rtlCol="false" tIns="50800" lIns="50800" bIns="50800" rIns="50800"/>
            <a:lstStyle/>
            <a:p>
              <a:pPr algn="ctr">
                <a:lnSpc>
                  <a:spcPts val="3359"/>
                </a:lnSpc>
              </a:pPr>
            </a:p>
          </p:txBody>
        </p:sp>
      </p:grpSp>
      <p:sp>
        <p:nvSpPr>
          <p:cNvPr name="TextBox 30" id="30"/>
          <p:cNvSpPr txBox="true"/>
          <p:nvPr/>
        </p:nvSpPr>
        <p:spPr>
          <a:xfrm rot="0">
            <a:off x="4024859" y="2632784"/>
            <a:ext cx="8058603" cy="1236345"/>
          </a:xfrm>
          <a:prstGeom prst="rect">
            <a:avLst/>
          </a:prstGeom>
        </p:spPr>
        <p:txBody>
          <a:bodyPr anchor="t" rtlCol="false" tIns="0" lIns="0" bIns="0" rIns="0">
            <a:spAutoFit/>
          </a:bodyPr>
          <a:lstStyle/>
          <a:p>
            <a:pPr algn="ctr">
              <a:lnSpc>
                <a:spcPts val="10080"/>
              </a:lnSpc>
            </a:pPr>
            <a:r>
              <a:rPr lang="en-US" b="true" sz="7200">
                <a:solidFill>
                  <a:srgbClr val="000000"/>
                </a:solidFill>
                <a:latin typeface="One Little Font Bold"/>
                <a:ea typeface="One Little Font Bold"/>
                <a:cs typeface="One Little Font Bold"/>
                <a:sym typeface="One Little Font Bold"/>
              </a:rPr>
              <a:t>conclusion</a:t>
            </a:r>
          </a:p>
        </p:txBody>
      </p:sp>
      <p:sp>
        <p:nvSpPr>
          <p:cNvPr name="TextBox 31" id="31"/>
          <p:cNvSpPr txBox="true"/>
          <p:nvPr/>
        </p:nvSpPr>
        <p:spPr>
          <a:xfrm rot="0">
            <a:off x="3554341" y="4030188"/>
            <a:ext cx="12829983" cy="4567774"/>
          </a:xfrm>
          <a:prstGeom prst="rect">
            <a:avLst/>
          </a:prstGeom>
        </p:spPr>
        <p:txBody>
          <a:bodyPr anchor="t" rtlCol="false" tIns="0" lIns="0" bIns="0" rIns="0">
            <a:spAutoFit/>
          </a:bodyPr>
          <a:lstStyle/>
          <a:p>
            <a:pPr algn="just">
              <a:lnSpc>
                <a:spcPts val="4574"/>
              </a:lnSpc>
              <a:spcBef>
                <a:spcPct val="0"/>
              </a:spcBef>
            </a:pPr>
          </a:p>
          <a:p>
            <a:pPr algn="just">
              <a:lnSpc>
                <a:spcPts val="4574"/>
              </a:lnSpc>
              <a:spcBef>
                <a:spcPct val="0"/>
              </a:spcBef>
            </a:pPr>
            <a:r>
              <a:rPr lang="en-US" sz="3267">
                <a:solidFill>
                  <a:srgbClr val="000000"/>
                </a:solidFill>
                <a:latin typeface="Poppins"/>
                <a:ea typeface="Poppins"/>
                <a:cs typeface="Poppins"/>
                <a:sym typeface="Poppins"/>
              </a:rPr>
              <a:t>A coffeeshop database is an organized data storage system to support operations and business decision making. By integrating customer, menu, inventory, transaction and financial data, this database enables more efficient management, improved customer experience, and provides accurate analytical reports to support more effective business strategies.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717287"/>
            <a:ext cx="2133528" cy="1439601"/>
            <a:chOff x="0" y="0"/>
            <a:chExt cx="587327" cy="396300"/>
          </a:xfrm>
        </p:grpSpPr>
        <p:sp>
          <p:nvSpPr>
            <p:cNvPr name="Freeform 4" id="4"/>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DFA39B"/>
            </a:solidFill>
          </p:spPr>
        </p:sp>
        <p:sp>
          <p:nvSpPr>
            <p:cNvPr name="TextBox 5" id="5"/>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3162228" y="717287"/>
            <a:ext cx="2133528" cy="1439601"/>
            <a:chOff x="0" y="0"/>
            <a:chExt cx="587327" cy="396300"/>
          </a:xfrm>
        </p:grpSpPr>
        <p:sp>
          <p:nvSpPr>
            <p:cNvPr name="Freeform 7" id="7"/>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BA7C"/>
            </a:solidFill>
          </p:spPr>
        </p:sp>
        <p:sp>
          <p:nvSpPr>
            <p:cNvPr name="TextBox 8" id="8"/>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5295757" y="717287"/>
            <a:ext cx="2133528" cy="1439601"/>
            <a:chOff x="0" y="0"/>
            <a:chExt cx="587327" cy="396300"/>
          </a:xfrm>
        </p:grpSpPr>
        <p:sp>
          <p:nvSpPr>
            <p:cNvPr name="Freeform 10" id="10"/>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CD8883"/>
            </a:solidFill>
          </p:spPr>
        </p:sp>
        <p:sp>
          <p:nvSpPr>
            <p:cNvPr name="TextBox 11" id="11"/>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9562813" y="717287"/>
            <a:ext cx="2133528" cy="1439601"/>
            <a:chOff x="0" y="0"/>
            <a:chExt cx="587327" cy="396300"/>
          </a:xfrm>
        </p:grpSpPr>
        <p:sp>
          <p:nvSpPr>
            <p:cNvPr name="Freeform 13" id="13"/>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6D8B74"/>
            </a:solidFill>
          </p:spPr>
        </p:sp>
        <p:sp>
          <p:nvSpPr>
            <p:cNvPr name="TextBox 14" id="14"/>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7429285" y="717287"/>
            <a:ext cx="2133528" cy="1439601"/>
            <a:chOff x="0" y="0"/>
            <a:chExt cx="587327" cy="396300"/>
          </a:xfrm>
        </p:grpSpPr>
        <p:sp>
          <p:nvSpPr>
            <p:cNvPr name="Freeform 16" id="16"/>
            <p:cNvSpPr/>
            <p:nvPr/>
          </p:nvSpPr>
          <p:spPr>
            <a:xfrm flipH="false" flipV="false" rot="0">
              <a:off x="0" y="0"/>
              <a:ext cx="587327" cy="396300"/>
            </a:xfrm>
            <a:custGeom>
              <a:avLst/>
              <a:gdLst/>
              <a:ahLst/>
              <a:cxnLst/>
              <a:rect r="r" b="b" t="t" l="l"/>
              <a:pathLst>
                <a:path h="396300" w="587327">
                  <a:moveTo>
                    <a:pt x="181435" y="0"/>
                  </a:moveTo>
                  <a:lnTo>
                    <a:pt x="405893" y="0"/>
                  </a:lnTo>
                  <a:cubicBezTo>
                    <a:pt x="506096" y="0"/>
                    <a:pt x="587327" y="81231"/>
                    <a:pt x="587327" y="181435"/>
                  </a:cubicBezTo>
                  <a:lnTo>
                    <a:pt x="587327" y="214865"/>
                  </a:lnTo>
                  <a:cubicBezTo>
                    <a:pt x="587327" y="315069"/>
                    <a:pt x="506096" y="396300"/>
                    <a:pt x="405893" y="396300"/>
                  </a:cubicBezTo>
                  <a:lnTo>
                    <a:pt x="181435" y="396300"/>
                  </a:lnTo>
                  <a:cubicBezTo>
                    <a:pt x="81231" y="396300"/>
                    <a:pt x="0" y="315069"/>
                    <a:pt x="0" y="214865"/>
                  </a:cubicBezTo>
                  <a:lnTo>
                    <a:pt x="0" y="181435"/>
                  </a:lnTo>
                  <a:cubicBezTo>
                    <a:pt x="0" y="81231"/>
                    <a:pt x="81231" y="0"/>
                    <a:pt x="181435" y="0"/>
                  </a:cubicBezTo>
                  <a:close/>
                </a:path>
              </a:pathLst>
            </a:custGeom>
            <a:solidFill>
              <a:srgbClr val="FBF2E7"/>
            </a:solidFill>
          </p:spPr>
        </p:sp>
        <p:sp>
          <p:nvSpPr>
            <p:cNvPr name="TextBox 17" id="17"/>
            <p:cNvSpPr txBox="true"/>
            <p:nvPr/>
          </p:nvSpPr>
          <p:spPr>
            <a:xfrm>
              <a:off x="0" y="-66675"/>
              <a:ext cx="587327" cy="462975"/>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028700" y="1340113"/>
            <a:ext cx="16230600" cy="8229600"/>
            <a:chOff x="0" y="0"/>
            <a:chExt cx="4468034" cy="2265482"/>
          </a:xfrm>
        </p:grpSpPr>
        <p:sp>
          <p:nvSpPr>
            <p:cNvPr name="Freeform 19" id="19"/>
            <p:cNvSpPr/>
            <p:nvPr/>
          </p:nvSpPr>
          <p:spPr>
            <a:xfrm flipH="false" flipV="false" rot="0">
              <a:off x="0" y="0"/>
              <a:ext cx="4468034" cy="2265482"/>
            </a:xfrm>
            <a:custGeom>
              <a:avLst/>
              <a:gdLst/>
              <a:ahLst/>
              <a:cxnLst/>
              <a:rect r="r" b="b" t="t" l="l"/>
              <a:pathLst>
                <a:path h="2265482" w="4468034">
                  <a:moveTo>
                    <a:pt x="23850" y="0"/>
                  </a:moveTo>
                  <a:lnTo>
                    <a:pt x="4444184" y="0"/>
                  </a:lnTo>
                  <a:cubicBezTo>
                    <a:pt x="4450509" y="0"/>
                    <a:pt x="4456576" y="2513"/>
                    <a:pt x="4461048" y="6985"/>
                  </a:cubicBezTo>
                  <a:cubicBezTo>
                    <a:pt x="4465521" y="11458"/>
                    <a:pt x="4468034" y="17524"/>
                    <a:pt x="4468034" y="23850"/>
                  </a:cubicBezTo>
                  <a:lnTo>
                    <a:pt x="4468034" y="2241632"/>
                  </a:lnTo>
                  <a:cubicBezTo>
                    <a:pt x="4468034" y="2247958"/>
                    <a:pt x="4465521" y="2254024"/>
                    <a:pt x="4461048" y="2258496"/>
                  </a:cubicBezTo>
                  <a:cubicBezTo>
                    <a:pt x="4456576" y="2262969"/>
                    <a:pt x="4450509" y="2265482"/>
                    <a:pt x="4444184" y="2265482"/>
                  </a:cubicBezTo>
                  <a:lnTo>
                    <a:pt x="23850" y="2265482"/>
                  </a:lnTo>
                  <a:cubicBezTo>
                    <a:pt x="17524" y="2265482"/>
                    <a:pt x="11458" y="2262969"/>
                    <a:pt x="6985" y="2258496"/>
                  </a:cubicBezTo>
                  <a:cubicBezTo>
                    <a:pt x="2513" y="2254024"/>
                    <a:pt x="0" y="2247958"/>
                    <a:pt x="0" y="2241632"/>
                  </a:cubicBezTo>
                  <a:lnTo>
                    <a:pt x="0" y="23850"/>
                  </a:lnTo>
                  <a:cubicBezTo>
                    <a:pt x="0" y="17524"/>
                    <a:pt x="2513" y="11458"/>
                    <a:pt x="6985" y="6985"/>
                  </a:cubicBezTo>
                  <a:cubicBezTo>
                    <a:pt x="11458" y="2513"/>
                    <a:pt x="17524" y="0"/>
                    <a:pt x="23850" y="0"/>
                  </a:cubicBezTo>
                  <a:close/>
                </a:path>
              </a:pathLst>
            </a:custGeom>
            <a:solidFill>
              <a:srgbClr val="DFA39B"/>
            </a:solidFill>
          </p:spPr>
        </p:sp>
        <p:sp>
          <p:nvSpPr>
            <p:cNvPr name="TextBox 20" id="20"/>
            <p:cNvSpPr txBox="true"/>
            <p:nvPr/>
          </p:nvSpPr>
          <p:spPr>
            <a:xfrm>
              <a:off x="0" y="-66675"/>
              <a:ext cx="4468034" cy="2332157"/>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1461449" y="1722246"/>
            <a:ext cx="15365102" cy="7465333"/>
            <a:chOff x="0" y="0"/>
            <a:chExt cx="4229776" cy="2055091"/>
          </a:xfrm>
        </p:grpSpPr>
        <p:sp>
          <p:nvSpPr>
            <p:cNvPr name="Freeform 22" id="22"/>
            <p:cNvSpPr/>
            <p:nvPr/>
          </p:nvSpPr>
          <p:spPr>
            <a:xfrm flipH="false" flipV="false" rot="0">
              <a:off x="0" y="0"/>
              <a:ext cx="4229776" cy="2055091"/>
            </a:xfrm>
            <a:custGeom>
              <a:avLst/>
              <a:gdLst/>
              <a:ahLst/>
              <a:cxnLst/>
              <a:rect r="r" b="b" t="t" l="l"/>
              <a:pathLst>
                <a:path h="2055091" w="4229776">
                  <a:moveTo>
                    <a:pt x="25193" y="0"/>
                  </a:moveTo>
                  <a:lnTo>
                    <a:pt x="4204583" y="0"/>
                  </a:lnTo>
                  <a:cubicBezTo>
                    <a:pt x="4218496" y="0"/>
                    <a:pt x="4229776" y="11279"/>
                    <a:pt x="4229776" y="25193"/>
                  </a:cubicBezTo>
                  <a:lnTo>
                    <a:pt x="4229776" y="2029898"/>
                  </a:lnTo>
                  <a:cubicBezTo>
                    <a:pt x="4229776" y="2043812"/>
                    <a:pt x="4218496" y="2055091"/>
                    <a:pt x="4204583" y="2055091"/>
                  </a:cubicBezTo>
                  <a:lnTo>
                    <a:pt x="25193" y="2055091"/>
                  </a:lnTo>
                  <a:cubicBezTo>
                    <a:pt x="11279" y="2055091"/>
                    <a:pt x="0" y="2043812"/>
                    <a:pt x="0" y="2029898"/>
                  </a:cubicBezTo>
                  <a:lnTo>
                    <a:pt x="0" y="25193"/>
                  </a:lnTo>
                  <a:cubicBezTo>
                    <a:pt x="0" y="11279"/>
                    <a:pt x="11279" y="0"/>
                    <a:pt x="25193" y="0"/>
                  </a:cubicBezTo>
                  <a:close/>
                </a:path>
              </a:pathLst>
            </a:custGeom>
            <a:solidFill>
              <a:srgbClr val="FBF2E7"/>
            </a:solidFill>
          </p:spPr>
        </p:sp>
        <p:sp>
          <p:nvSpPr>
            <p:cNvPr name="TextBox 23" id="23"/>
            <p:cNvSpPr txBox="true"/>
            <p:nvPr/>
          </p:nvSpPr>
          <p:spPr>
            <a:xfrm>
              <a:off x="0" y="-66675"/>
              <a:ext cx="4229776" cy="2121766"/>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14107258" y="2532572"/>
            <a:ext cx="3038594" cy="9385619"/>
          </a:xfrm>
          <a:custGeom>
            <a:avLst/>
            <a:gdLst/>
            <a:ahLst/>
            <a:cxnLst/>
            <a:rect r="r" b="b" t="t" l="l"/>
            <a:pathLst>
              <a:path h="9385619" w="3038594">
                <a:moveTo>
                  <a:pt x="0" y="0"/>
                </a:moveTo>
                <a:lnTo>
                  <a:pt x="3038595" y="0"/>
                </a:lnTo>
                <a:lnTo>
                  <a:pt x="3038595" y="9385620"/>
                </a:lnTo>
                <a:lnTo>
                  <a:pt x="0" y="93856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783703">
            <a:off x="-73111" y="1750374"/>
            <a:ext cx="2440159" cy="3395003"/>
          </a:xfrm>
          <a:custGeom>
            <a:avLst/>
            <a:gdLst/>
            <a:ahLst/>
            <a:cxnLst/>
            <a:rect r="r" b="b" t="t" l="l"/>
            <a:pathLst>
              <a:path h="3395003" w="2440159">
                <a:moveTo>
                  <a:pt x="0" y="0"/>
                </a:moveTo>
                <a:lnTo>
                  <a:pt x="2440159" y="0"/>
                </a:lnTo>
                <a:lnTo>
                  <a:pt x="2440159" y="3395004"/>
                </a:lnTo>
                <a:lnTo>
                  <a:pt x="0" y="33950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1776803">
            <a:off x="16147912" y="-27725"/>
            <a:ext cx="2222777" cy="3092559"/>
          </a:xfrm>
          <a:custGeom>
            <a:avLst/>
            <a:gdLst/>
            <a:ahLst/>
            <a:cxnLst/>
            <a:rect r="r" b="b" t="t" l="l"/>
            <a:pathLst>
              <a:path h="3092559" w="2222777">
                <a:moveTo>
                  <a:pt x="2222776" y="0"/>
                </a:moveTo>
                <a:lnTo>
                  <a:pt x="0" y="0"/>
                </a:lnTo>
                <a:lnTo>
                  <a:pt x="0" y="3092559"/>
                </a:lnTo>
                <a:lnTo>
                  <a:pt x="2222776" y="3092559"/>
                </a:lnTo>
                <a:lnTo>
                  <a:pt x="222277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0">
            <a:off x="1146968" y="4731995"/>
            <a:ext cx="3632157" cy="10882869"/>
          </a:xfrm>
          <a:custGeom>
            <a:avLst/>
            <a:gdLst/>
            <a:ahLst/>
            <a:cxnLst/>
            <a:rect r="r" b="b" t="t" l="l"/>
            <a:pathLst>
              <a:path h="10882869" w="3632157">
                <a:moveTo>
                  <a:pt x="0" y="0"/>
                </a:moveTo>
                <a:lnTo>
                  <a:pt x="3632158" y="0"/>
                </a:lnTo>
                <a:lnTo>
                  <a:pt x="3632158" y="10882869"/>
                </a:lnTo>
                <a:lnTo>
                  <a:pt x="0" y="108828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4079139" y="3990975"/>
            <a:ext cx="10129723" cy="2066925"/>
          </a:xfrm>
          <a:prstGeom prst="rect">
            <a:avLst/>
          </a:prstGeom>
        </p:spPr>
        <p:txBody>
          <a:bodyPr anchor="t" rtlCol="false" tIns="0" lIns="0" bIns="0" rIns="0">
            <a:spAutoFit/>
          </a:bodyPr>
          <a:lstStyle/>
          <a:p>
            <a:pPr algn="ctr" marL="0" indent="0" lvl="0">
              <a:lnSpc>
                <a:spcPts val="16800"/>
              </a:lnSpc>
              <a:spcBef>
                <a:spcPct val="0"/>
              </a:spcBef>
            </a:pPr>
            <a:r>
              <a:rPr lang="en-US" b="true" sz="12000">
                <a:solidFill>
                  <a:srgbClr val="000000"/>
                </a:solidFill>
                <a:latin typeface="One Little Font Bold"/>
                <a:ea typeface="One Little Font Bold"/>
                <a:cs typeface="One Little Font Bold"/>
                <a:sym typeface="One Little Fon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DAGa76hOVjU</dc:identifier>
  <dcterms:modified xsi:type="dcterms:W3CDTF">2011-08-01T06:04:30Z</dcterms:modified>
  <cp:revision>1</cp:revision>
  <dc:title>Merah Muda Sederhana Tugas Kelompok Presentasi</dc:title>
</cp:coreProperties>
</file>